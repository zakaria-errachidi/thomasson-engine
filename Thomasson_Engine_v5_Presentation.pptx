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46320" y="0"/>
            <a:ext cx="182880" cy="6858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0" y="457200"/>
            <a:ext cx="6217920" cy="4572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06440" y="50292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2F2F2"/>
                </a:solidFill>
                <a:latin typeface="Arial"/>
              </a:rPr>
              <a:t>RC LENS — DATA SCOUTING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188720"/>
            <a:ext cx="6675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2F2F2"/>
                </a:solidFill>
                <a:latin typeface="Arial Black"/>
              </a:rPr>
              <a:t>THOMASSON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24028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30613"/>
                </a:solidFill>
                <a:latin typeface="Arial Black"/>
              </a:rP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31546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5A623"/>
                </a:solidFill>
                <a:latin typeface="Arial Black"/>
              </a:rPr>
              <a:t>V5.0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977639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2F2"/>
                </a:solidFill>
                <a:latin typeface="Arial"/>
              </a:rPr>
              <a:t>Identification Scientifique du Successeur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31596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2F2"/>
                </a:solidFill>
                <a:latin typeface="Arial"/>
              </a:rPr>
              <a:t>d'Adrien Thomasson — RC Lens | Big 5 2024/25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4114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E30613"/>
                </a:solidFill>
                <a:latin typeface="Arial Black"/>
              </a:rPr>
              <a:t>2445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128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JOUEURS ANALYSÉS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834640"/>
            <a:ext cx="4114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5A623"/>
                </a:solidFill>
                <a:latin typeface="Arial Black"/>
              </a:rPr>
              <a:t>718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MILIEUX BIG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2F2F2"/>
                </a:solidFill>
                <a:latin typeface="Arial Black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463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Arial"/>
              </a:rPr>
              <a:t>CANDIDATS RETENUS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Big 5 Saison 2024/25  |  Source : SofaScore  |  Thomasson Engine v5.0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01 — PORTRAIT STATISTIQUE  |  ADRIEN THOMASSON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RC Lens  |  Milieu hybride Box-to-Box  |  32 ans  |  FRA  |  1922 min  |  22 matchs  |  Note SofaScore : 6.88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64008" cy="7498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3385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2.95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Tacles / 90min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097280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1097280"/>
            <a:ext cx="64008" cy="7498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13385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0.66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554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Intercept./90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097280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09728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13385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2.44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554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Passes Clés/90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097280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09728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133856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0.33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554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Big Chances/90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38528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1938528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7510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0.19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957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xA / 90min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938528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1938528"/>
            <a:ext cx="64008" cy="7498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197510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83.2%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3957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Précision Passes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1938528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0" y="1938528"/>
            <a:ext cx="64008" cy="7498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197510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44.2%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23957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Duels Sol (%)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1938528"/>
            <a:ext cx="2560320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1938528"/>
            <a:ext cx="64008" cy="7498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975104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6.88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39572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Note SofaScore</a:t>
            </a:r>
          </a:p>
        </p:txBody>
      </p:sp>
      <p:pic>
        <p:nvPicPr>
          <p:cNvPr id="37" name="Picture 36" descr="thomasson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34640"/>
            <a:ext cx="3749039" cy="3749039"/>
          </a:xfrm>
          <a:prstGeom prst="rect">
            <a:avLst/>
          </a:prstGeom>
        </p:spPr>
      </p:pic>
      <p:pic>
        <p:nvPicPr>
          <p:cNvPr id="38" name="Picture 37" descr="thomass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834640"/>
            <a:ext cx="777240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02 — MODÈLE DE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F2F2"/>
                </a:solidFill>
                <a:latin typeface="Arial Black"/>
              </a:rPr>
              <a:t>ARCHITECTURE DU THOMASSON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Score Composite = Pressing (45%) + Création (45%) + Circulation (10%)  |  MinMaxScaler 0-100  |  718 milieux Big 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3749039" cy="4846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749039" cy="73152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30613"/>
                </a:solidFill>
                <a:latin typeface="Arial Black"/>
              </a:rP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F2"/>
                </a:solidFill>
                <a:latin typeface="Arial Black"/>
              </a:rPr>
              <a:t>PRESSING &amp;
RÉCUPÉRATION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Tacles / 90min [30%]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Interceptions [20%]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879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Duels sol (%) [20%]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354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Dégagements [10%]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828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Fautes prov. [10%]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30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Note Sofa [10%]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737360"/>
            <a:ext cx="3749039" cy="4846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59" y="1737360"/>
            <a:ext cx="3749039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874519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5A623"/>
                </a:solidFill>
                <a:latin typeface="Arial Black"/>
              </a:rPr>
              <a:t>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F2"/>
                </a:solidFill>
                <a:latin typeface="Arial Black"/>
              </a:rPr>
              <a:t>CRÉATION &amp;
PROJECTION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Passes clés [30%]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840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Big chances [25%]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1879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Passes déc. [20%]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5354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xA / 90 [15%]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8828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Dribbles [10%]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737360"/>
            <a:ext cx="3749039" cy="4846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737360"/>
            <a:ext cx="3749039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874519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A8E8"/>
                </a:solidFill>
                <a:latin typeface="Arial Black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F2"/>
                </a:solidFill>
                <a:latin typeface="Arial Black"/>
              </a:rPr>
              <a:t>CIRCULATION
DU JEU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4930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Précision passes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1879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Filtre: ≥600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53542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Âge ≤ 28 ans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48828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Création ≥ 20/100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52303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MinMax 0-100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03 — CARTOGRAPHIE DU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F2F2"/>
                </a:solidFill>
                <a:latin typeface="Arial Black"/>
              </a:rPr>
              <a:t>PRESSING vs. CRÉATION — 718 milieux Big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61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Identification de la zone hybride Box-to-Box  |  Thomasson ★  |  Top 5 candidats annotés</a:t>
            </a:r>
          </a:p>
        </p:txBody>
      </p:sp>
      <p:pic>
        <p:nvPicPr>
          <p:cNvPr id="6" name="Picture 5" descr="scatter_pressing_cr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0"/>
            <a:ext cx="116128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04 — BENCHMARK COMPARATIF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F2F2"/>
                </a:solidFill>
                <a:latin typeface="Arial Black"/>
              </a:rPr>
              <a:t>SCORES &amp; HEATMAP MULTICRITÈRE</a:t>
            </a:r>
          </a:p>
        </p:txBody>
      </p:sp>
      <p:pic>
        <p:nvPicPr>
          <p:cNvPr id="5" name="Picture 4" descr="scores_comparat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2651760"/>
          </a:xfrm>
          <a:prstGeom prst="rect">
            <a:avLst/>
          </a:prstGeom>
        </p:spPr>
      </p:pic>
      <p:pic>
        <p:nvPicPr>
          <p:cNvPr id="6" name="Picture 5" descr="heatmap_multicrit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577840" cy="2651760"/>
          </a:xfrm>
          <a:prstGeom prst="rect">
            <a:avLst/>
          </a:prstGeom>
        </p:spPr>
      </p:pic>
      <p:pic>
        <p:nvPicPr>
          <p:cNvPr id="7" name="Picture 6" descr="fenetre_recrut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160520"/>
            <a:ext cx="1161288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05 — RADARS COMPARATIFS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2F2"/>
                </a:solidFill>
                <a:latin typeface="Arial Black"/>
              </a:rPr>
              <a:t>THOMASSON vs. TOP 3 — SUPERPOSITION DES PROFILS</a:t>
            </a:r>
          </a:p>
        </p:txBody>
      </p:sp>
      <p:pic>
        <p:nvPicPr>
          <p:cNvPr id="5" name="Picture 4" descr="radars_comparat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16128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06 — SHORTLIST FINALE  |  TOP 5 SUCCESSEURS IDENTIFIÉS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11430000" cy="8961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73152" cy="8961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4183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A623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923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2F2"/>
                </a:solidFill>
                <a:latin typeface="Arial Black"/>
              </a:rPr>
              <a:t>Federico Dimarco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075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28 ans | ITA | Hybride Créatif-Pressing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05156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Passes Clés/90: 3.42 | Tacles/90: 1.80 | Rating: 7.55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941832"/>
            <a:ext cx="1600200" cy="7498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90525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  <a:latin typeface="Arial Black"/>
              </a:rPr>
              <a:t>95.9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36245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Arial"/>
              </a:rPr>
              <a:t>/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74519"/>
            <a:ext cx="11430000" cy="8961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1874519"/>
            <a:ext cx="73152" cy="89611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4767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2F2F2"/>
                </a:solidFill>
                <a:latin typeface="Arial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9293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2F2"/>
                </a:solidFill>
                <a:latin typeface="Arial Black"/>
              </a:rPr>
              <a:t>Gabriel Suazo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134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28 ans | CHI | Box-to-Box Pressing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5740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Tacles/90: 3.97 | Duels Sol: 58.6% | Rating: 6.82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1947672"/>
            <a:ext cx="1600200" cy="7498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1911095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2F2F2"/>
                </a:solidFill>
                <a:latin typeface="Arial Black"/>
              </a:rPr>
              <a:t>93.7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36829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Arial"/>
              </a:rPr>
              <a:t>/ 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80360"/>
            <a:ext cx="11430000" cy="8961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880360"/>
            <a:ext cx="73152" cy="896112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5351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CD7F32"/>
                </a:solidFill>
                <a:latin typeface="Arial Blac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9352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2F2"/>
                </a:solidFill>
                <a:latin typeface="Arial Black"/>
              </a:rPr>
              <a:t>Rayan Cherki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3192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22 ans | FRA | Créatif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06324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Passes Clés/90: 2.90 | Score Création: 85.2 | Rating: 7.20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953512"/>
            <a:ext cx="1600200" cy="7498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91693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D7F32"/>
                </a:solidFill>
                <a:latin typeface="Arial Black"/>
              </a:rPr>
              <a:t>86.4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37413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Arial"/>
              </a:rPr>
              <a:t>/ 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86200"/>
            <a:ext cx="11430000" cy="8961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886200"/>
            <a:ext cx="73152" cy="89611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95935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A8E8"/>
                </a:solidFill>
                <a:latin typeface="Arial Black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94106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2F2"/>
                </a:solidFill>
                <a:latin typeface="Arial Black"/>
              </a:rPr>
              <a:t>Lamine Camara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325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22 ans | SEN | Box-to-Box Équilibré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06908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Acclimatation immédiate | Tacles/90: 2.45 | Rating: 7.08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0" y="3959352"/>
            <a:ext cx="1600200" cy="7498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392277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A8E8"/>
                </a:solidFill>
                <a:latin typeface="Arial Black"/>
              </a:rPr>
              <a:t>84.6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437997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Arial"/>
              </a:rPr>
              <a:t>/ 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892040"/>
            <a:ext cx="11430000" cy="89611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4892040"/>
            <a:ext cx="73152" cy="89611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965192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CAF50"/>
                </a:solidFill>
                <a:latin typeface="Arial Black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9469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2F2F2"/>
                </a:solidFill>
                <a:latin typeface="Arial Black"/>
              </a:rPr>
              <a:t>M. Sangaré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53309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Arial"/>
              </a:rPr>
              <a:t>23 ans | MLI | Pressing Dominant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50749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Déjà au club | Tacles/90: 3.82 | À développer créativement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4965192"/>
            <a:ext cx="1600200" cy="74980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4928616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CAF50"/>
                </a:solidFill>
                <a:latin typeface="Arial Black"/>
              </a:rPr>
              <a:t>82.1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538581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Arial"/>
              </a:rPr>
              <a:t>/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07 — VERDICT FINAL  |  PODIUM DES SUCCESSEURS</a:t>
            </a:r>
          </a:p>
        </p:txBody>
      </p:sp>
      <p:pic>
        <p:nvPicPr>
          <p:cNvPr id="4" name="Picture 3" descr="podium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1161288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08 — RECOMMANDATION FINALE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2743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09728" cy="274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972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A623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822960"/>
            <a:ext cx="7315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2F2F2"/>
                </a:solidFill>
                <a:latin typeface="Arial Black"/>
              </a:rPr>
              <a:t>FEDERICO DIMARCO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898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Inter Milan — Serie A  |  28 ans  |  Score Composite : 95.9/100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55648"/>
            <a:ext cx="8046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  <a:latin typeface="Arial"/>
              </a:rPr>
              <a:t>Meilleur profil hybride parmi 718 milieux analysés. Ses 3.42 passes clés/90 (top 10%)
couplées à un pressing crédible (1.80 tacles/90) correspondent exactement au profil Box-to-Box
créatif de Thomasson. Rating SofaScore 7.55. Cible réaliste sur le marché estival 2025.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0" y="841248"/>
            <a:ext cx="1554480" cy="2651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04120" y="137160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A623"/>
                </a:solidFill>
                <a:latin typeface="Arial Black"/>
              </a:rPr>
              <a:t>95.9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011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Arial"/>
              </a:rPr>
              <a:t>/ 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75887"/>
            <a:ext cx="11430000" cy="10972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675887"/>
            <a:ext cx="109728" cy="1097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2F2"/>
                </a:solidFill>
                <a:latin typeface="Arial Black"/>
              </a:rPr>
              <a:t>OPTION LIGUE 1 — Lamine Camara  •  AS Monaco  •  22 ans  •  Score : 84.6/100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Profil Box-to-Box équilibré. Ligue 1 = acclimatation immédiate. Budget plus accessible.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19472"/>
            <a:ext cx="1143000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919472"/>
            <a:ext cx="109728" cy="868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9262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F2F2"/>
                </a:solidFill>
                <a:latin typeface="Arial Black"/>
              </a:rPr>
              <a:t>OPTION INTERNE — Mamadou Sangaré (RC Lens, 23 ans) — Score 82.1/100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3095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Déjà au club. Pressing dominant (3.82 tacles/90). Profil à développer créativement par Pierre Sage.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0350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Arial"/>
              </a:rPr>
              <a:t>THOMASSON ENGINE v5.0  |  RC Lens Cellule Data  |  SofaScore Big 5 2024/25  |  718 milieux analysés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59893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30613"/>
                </a:solidFill>
                <a:latin typeface="Arial Black"/>
              </a:rPr>
              <a:t>⚽ RC LENS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F2F2"/>
                </a:solidFill>
                <a:latin typeface="Arial Black"/>
              </a:rPr>
              <a:t>09 — MÉTHODOLOGIE  |  PIPELINE DE RECRUTEMENT EN 4 ÉTAPES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834640" cy="5120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834640" cy="6400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282828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F2"/>
                </a:solidFill>
                <a:latin typeface="Arial Black"/>
              </a:rPr>
              <a:t>Source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SofaScore Big 5 2024/25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358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2,445 joueurs uniques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19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96 clubs couverts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60+ variables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Dataset validée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97280"/>
            <a:ext cx="2834640" cy="5120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097280"/>
            <a:ext cx="28346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1887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282828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F2"/>
                </a:solidFill>
                <a:latin typeface="Arial Black"/>
              </a:rPr>
              <a:t>Filtrage Initial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Poste : Milieu (MF)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0358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Minutes ≥ 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419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Âge ≤ 28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Score Création ≥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718 → ~140 actifs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097280"/>
            <a:ext cx="2834640" cy="5120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097280"/>
            <a:ext cx="2834640" cy="6400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1887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282828"/>
                </a:solidFill>
                <a:latin typeface="Arial Black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F2"/>
                </a:solidFill>
                <a:latin typeface="Arial Black"/>
              </a:rPr>
              <a:t>Score Composite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Pressing 45%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0358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Création 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19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Circulation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MinMax 0-100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Ranking final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1097280"/>
            <a:ext cx="2834640" cy="51206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1097280"/>
            <a:ext cx="283464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188720"/>
            <a:ext cx="2468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282828"/>
                </a:solidFill>
                <a:latin typeface="Arial Black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103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F2F2"/>
                </a:solidFill>
                <a:latin typeface="Arial Black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6517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Radar comparatif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03580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Heatmap percentiles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41985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Scatter positioning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8039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Fenêtre recrutement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88"/>
                </a:solidFill>
                <a:latin typeface="Arial"/>
              </a:rPr>
              <a:t>• Top 5 finalisés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Arial"/>
              </a:rPr>
              <a:t>Sources : SofaScore · GitHub Axelbol · LinkedIn Dani Rodriguez · Podcast Kan Football Club · Juliusz Dabrowski · Antoine Michel (RC Lens) · Julien Verdier (RC Lens)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