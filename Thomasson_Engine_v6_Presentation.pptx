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858000"/>
          </a:xfrm>
          <a:prstGeom prst="rect">
            <a:avLst/>
          </a:prstGeom>
          <a:solidFill>
            <a:srgbClr val="1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18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0" y="0"/>
            <a:ext cx="182880" cy="685800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0" y="411480"/>
            <a:ext cx="6217920" cy="50292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06440" y="475488"/>
            <a:ext cx="5943600" cy="347472"/>
          </a:xfrm>
          <a:prstGeom prst="rect">
            <a:avLst/>
          </a:prstGeom>
          <a:noFill/>
        </p:spPr>
        <p:txBody>
          <a:bodyPr wrap="square">
            <a:spAutoFit/>
          </a:bodyPr>
          <a:lstStyle/>
          <a:p>
            <a:pPr algn="l"/>
            <a:r>
              <a:rPr sz="900" b="1">
                <a:solidFill>
                  <a:srgbClr val="F2F2F2"/>
                </a:solidFill>
                <a:latin typeface="Arial"/>
              </a:rPr>
              <a:t>RC LENS — DATA SCOUTING | BUDGET EDITION</a:t>
            </a:r>
          </a:p>
        </p:txBody>
      </p:sp>
      <p:sp>
        <p:nvSpPr>
          <p:cNvPr id="7" name="TextBox 6"/>
          <p:cNvSpPr txBox="1"/>
          <p:nvPr/>
        </p:nvSpPr>
        <p:spPr>
          <a:xfrm>
            <a:off x="5212080" y="1143000"/>
            <a:ext cx="6675120" cy="1234440"/>
          </a:xfrm>
          <a:prstGeom prst="rect">
            <a:avLst/>
          </a:prstGeom>
          <a:noFill/>
        </p:spPr>
        <p:txBody>
          <a:bodyPr wrap="square">
            <a:spAutoFit/>
          </a:bodyPr>
          <a:lstStyle/>
          <a:p>
            <a:pPr algn="l"/>
            <a:r>
              <a:rPr sz="7200" b="1">
                <a:solidFill>
                  <a:srgbClr val="F2F2F2"/>
                </a:solidFill>
                <a:latin typeface="Arial Black"/>
              </a:rPr>
              <a:t>THOMASSON</a:t>
            </a:r>
          </a:p>
        </p:txBody>
      </p:sp>
      <p:sp>
        <p:nvSpPr>
          <p:cNvPr id="8" name="TextBox 7"/>
          <p:cNvSpPr txBox="1"/>
          <p:nvPr/>
        </p:nvSpPr>
        <p:spPr>
          <a:xfrm>
            <a:off x="5212080" y="2194560"/>
            <a:ext cx="6675120" cy="1005840"/>
          </a:xfrm>
          <a:prstGeom prst="rect">
            <a:avLst/>
          </a:prstGeom>
          <a:noFill/>
        </p:spPr>
        <p:txBody>
          <a:bodyPr wrap="square">
            <a:spAutoFit/>
          </a:bodyPr>
          <a:lstStyle/>
          <a:p>
            <a:pPr algn="l"/>
            <a:r>
              <a:rPr sz="7200" b="1">
                <a:solidFill>
                  <a:srgbClr val="E30613"/>
                </a:solidFill>
                <a:latin typeface="Arial Black"/>
              </a:rPr>
              <a:t>ENGINE</a:t>
            </a:r>
          </a:p>
        </p:txBody>
      </p:sp>
      <p:sp>
        <p:nvSpPr>
          <p:cNvPr id="9" name="TextBox 8"/>
          <p:cNvSpPr txBox="1"/>
          <p:nvPr/>
        </p:nvSpPr>
        <p:spPr>
          <a:xfrm>
            <a:off x="5212080" y="3108960"/>
            <a:ext cx="3657600" cy="777240"/>
          </a:xfrm>
          <a:prstGeom prst="rect">
            <a:avLst/>
          </a:prstGeom>
          <a:noFill/>
        </p:spPr>
        <p:txBody>
          <a:bodyPr wrap="square">
            <a:spAutoFit/>
          </a:bodyPr>
          <a:lstStyle/>
          <a:p>
            <a:pPr algn="l"/>
            <a:r>
              <a:rPr sz="4800" b="1">
                <a:solidFill>
                  <a:srgbClr val="F5A623"/>
                </a:solidFill>
                <a:latin typeface="Arial Black"/>
              </a:rPr>
              <a:t>V6.0</a:t>
            </a:r>
          </a:p>
        </p:txBody>
      </p:sp>
      <p:sp>
        <p:nvSpPr>
          <p:cNvPr id="10" name="TextBox 9"/>
          <p:cNvSpPr txBox="1"/>
          <p:nvPr/>
        </p:nvSpPr>
        <p:spPr>
          <a:xfrm>
            <a:off x="5212080" y="4005072"/>
            <a:ext cx="6675120" cy="347472"/>
          </a:xfrm>
          <a:prstGeom prst="rect">
            <a:avLst/>
          </a:prstGeom>
          <a:noFill/>
        </p:spPr>
        <p:txBody>
          <a:bodyPr wrap="square">
            <a:spAutoFit/>
          </a:bodyPr>
          <a:lstStyle/>
          <a:p>
            <a:pPr algn="l"/>
            <a:r>
              <a:rPr sz="1200" b="0">
                <a:solidFill>
                  <a:srgbClr val="F2F2F2"/>
                </a:solidFill>
                <a:latin typeface="Arial"/>
              </a:rPr>
              <a:t>Filtrage Humain + Analyse Budgétaire Intégrée</a:t>
            </a:r>
          </a:p>
        </p:txBody>
      </p:sp>
      <p:sp>
        <p:nvSpPr>
          <p:cNvPr id="11" name="TextBox 10"/>
          <p:cNvSpPr txBox="1"/>
          <p:nvPr/>
        </p:nvSpPr>
        <p:spPr>
          <a:xfrm>
            <a:off x="5212080" y="4370832"/>
            <a:ext cx="6675120" cy="347472"/>
          </a:xfrm>
          <a:prstGeom prst="rect">
            <a:avLst/>
          </a:prstGeom>
          <a:noFill/>
        </p:spPr>
        <p:txBody>
          <a:bodyPr wrap="square">
            <a:spAutoFit/>
          </a:bodyPr>
          <a:lstStyle/>
          <a:p>
            <a:pPr algn="l"/>
            <a:r>
              <a:rPr sz="1100" b="0">
                <a:solidFill>
                  <a:srgbClr val="888888"/>
                </a:solidFill>
                <a:latin typeface="Arial"/>
              </a:rPr>
              <a:t>Budget RC Lens ~10M€ | Kévin Danois réévalué | Pipeline 2445→1</a:t>
            </a:r>
          </a:p>
        </p:txBody>
      </p:sp>
      <p:sp>
        <p:nvSpPr>
          <p:cNvPr id="12" name="TextBox 11"/>
          <p:cNvSpPr txBox="1"/>
          <p:nvPr/>
        </p:nvSpPr>
        <p:spPr>
          <a:xfrm>
            <a:off x="365760" y="1280160"/>
            <a:ext cx="4114800" cy="749808"/>
          </a:xfrm>
          <a:prstGeom prst="rect">
            <a:avLst/>
          </a:prstGeom>
          <a:noFill/>
        </p:spPr>
        <p:txBody>
          <a:bodyPr wrap="square">
            <a:spAutoFit/>
          </a:bodyPr>
          <a:lstStyle/>
          <a:p>
            <a:pPr algn="ctr"/>
            <a:r>
              <a:rPr sz="4200" b="1">
                <a:solidFill>
                  <a:srgbClr val="E30613"/>
                </a:solidFill>
                <a:latin typeface="Arial Black"/>
              </a:rPr>
              <a:t>2445</a:t>
            </a:r>
          </a:p>
        </p:txBody>
      </p:sp>
      <p:sp>
        <p:nvSpPr>
          <p:cNvPr id="13" name="TextBox 12"/>
          <p:cNvSpPr txBox="1"/>
          <p:nvPr/>
        </p:nvSpPr>
        <p:spPr>
          <a:xfrm>
            <a:off x="365760" y="2029967"/>
            <a:ext cx="4114800" cy="274320"/>
          </a:xfrm>
          <a:prstGeom prst="rect">
            <a:avLst/>
          </a:prstGeom>
          <a:noFill/>
        </p:spPr>
        <p:txBody>
          <a:bodyPr wrap="square">
            <a:spAutoFit/>
          </a:bodyPr>
          <a:lstStyle/>
          <a:p>
            <a:pPr algn="ctr"/>
            <a:r>
              <a:rPr sz="900" b="0">
                <a:solidFill>
                  <a:srgbClr val="888888"/>
                </a:solidFill>
                <a:latin typeface="Arial"/>
              </a:rPr>
              <a:t>JOUEURS</a:t>
            </a:r>
          </a:p>
        </p:txBody>
      </p:sp>
      <p:sp>
        <p:nvSpPr>
          <p:cNvPr id="14" name="TextBox 13"/>
          <p:cNvSpPr txBox="1"/>
          <p:nvPr/>
        </p:nvSpPr>
        <p:spPr>
          <a:xfrm>
            <a:off x="365760" y="2468880"/>
            <a:ext cx="4114800" cy="749808"/>
          </a:xfrm>
          <a:prstGeom prst="rect">
            <a:avLst/>
          </a:prstGeom>
          <a:noFill/>
        </p:spPr>
        <p:txBody>
          <a:bodyPr wrap="square">
            <a:spAutoFit/>
          </a:bodyPr>
          <a:lstStyle/>
          <a:p>
            <a:pPr algn="ctr"/>
            <a:r>
              <a:rPr sz="4200" b="1">
                <a:solidFill>
                  <a:srgbClr val="F5A623"/>
                </a:solidFill>
                <a:latin typeface="Arial Black"/>
              </a:rPr>
              <a:t>718</a:t>
            </a:r>
          </a:p>
        </p:txBody>
      </p:sp>
      <p:sp>
        <p:nvSpPr>
          <p:cNvPr id="15" name="TextBox 14"/>
          <p:cNvSpPr txBox="1"/>
          <p:nvPr/>
        </p:nvSpPr>
        <p:spPr>
          <a:xfrm>
            <a:off x="365760" y="3218688"/>
            <a:ext cx="4114800" cy="274320"/>
          </a:xfrm>
          <a:prstGeom prst="rect">
            <a:avLst/>
          </a:prstGeom>
          <a:noFill/>
        </p:spPr>
        <p:txBody>
          <a:bodyPr wrap="square">
            <a:spAutoFit/>
          </a:bodyPr>
          <a:lstStyle/>
          <a:p>
            <a:pPr algn="ctr"/>
            <a:r>
              <a:rPr sz="900" b="0">
                <a:solidFill>
                  <a:srgbClr val="888888"/>
                </a:solidFill>
                <a:latin typeface="Arial"/>
              </a:rPr>
              <a:t>MILIEUX</a:t>
            </a:r>
          </a:p>
        </p:txBody>
      </p:sp>
      <p:sp>
        <p:nvSpPr>
          <p:cNvPr id="16" name="TextBox 15"/>
          <p:cNvSpPr txBox="1"/>
          <p:nvPr/>
        </p:nvSpPr>
        <p:spPr>
          <a:xfrm>
            <a:off x="365760" y="3657600"/>
            <a:ext cx="4114800" cy="749808"/>
          </a:xfrm>
          <a:prstGeom prst="rect">
            <a:avLst/>
          </a:prstGeom>
          <a:noFill/>
        </p:spPr>
        <p:txBody>
          <a:bodyPr wrap="square">
            <a:spAutoFit/>
          </a:bodyPr>
          <a:lstStyle/>
          <a:p>
            <a:pPr algn="ctr"/>
            <a:r>
              <a:rPr sz="4200" b="1">
                <a:solidFill>
                  <a:srgbClr val="4CAF50"/>
                </a:solidFill>
                <a:latin typeface="Arial Black"/>
              </a:rPr>
              <a:t>~10M€</a:t>
            </a:r>
          </a:p>
        </p:txBody>
      </p:sp>
      <p:sp>
        <p:nvSpPr>
          <p:cNvPr id="17" name="TextBox 16"/>
          <p:cNvSpPr txBox="1"/>
          <p:nvPr/>
        </p:nvSpPr>
        <p:spPr>
          <a:xfrm>
            <a:off x="365760" y="4407408"/>
            <a:ext cx="4114800" cy="274320"/>
          </a:xfrm>
          <a:prstGeom prst="rect">
            <a:avLst/>
          </a:prstGeom>
          <a:noFill/>
        </p:spPr>
        <p:txBody>
          <a:bodyPr wrap="square">
            <a:spAutoFit/>
          </a:bodyPr>
          <a:lstStyle/>
          <a:p>
            <a:pPr algn="ctr"/>
            <a:r>
              <a:rPr sz="900" b="0">
                <a:solidFill>
                  <a:srgbClr val="888888"/>
                </a:solidFill>
                <a:latin typeface="Arial"/>
              </a:rPr>
              <a:t>BUDGET MAX</a:t>
            </a:r>
          </a:p>
        </p:txBody>
      </p:sp>
      <p:sp>
        <p:nvSpPr>
          <p:cNvPr id="18" name="TextBox 17"/>
          <p:cNvSpPr txBox="1"/>
          <p:nvPr/>
        </p:nvSpPr>
        <p:spPr>
          <a:xfrm>
            <a:off x="365760" y="4846320"/>
            <a:ext cx="4114800" cy="749808"/>
          </a:xfrm>
          <a:prstGeom prst="rect">
            <a:avLst/>
          </a:prstGeom>
          <a:noFill/>
        </p:spPr>
        <p:txBody>
          <a:bodyPr wrap="square">
            <a:spAutoFit/>
          </a:bodyPr>
          <a:lstStyle/>
          <a:p>
            <a:pPr algn="ctr"/>
            <a:r>
              <a:rPr sz="4200" b="1">
                <a:solidFill>
                  <a:srgbClr val="00A8E8"/>
                </a:solidFill>
                <a:latin typeface="Arial Black"/>
              </a:rPr>
              <a:t>6</a:t>
            </a:r>
          </a:p>
        </p:txBody>
      </p:sp>
      <p:sp>
        <p:nvSpPr>
          <p:cNvPr id="19" name="TextBox 18"/>
          <p:cNvSpPr txBox="1"/>
          <p:nvPr/>
        </p:nvSpPr>
        <p:spPr>
          <a:xfrm>
            <a:off x="365760" y="5596128"/>
            <a:ext cx="4114800" cy="274320"/>
          </a:xfrm>
          <a:prstGeom prst="rect">
            <a:avLst/>
          </a:prstGeom>
          <a:noFill/>
        </p:spPr>
        <p:txBody>
          <a:bodyPr wrap="square">
            <a:spAutoFit/>
          </a:bodyPr>
          <a:lstStyle/>
          <a:p>
            <a:pPr algn="ctr"/>
            <a:r>
              <a:rPr sz="900" b="0">
                <a:solidFill>
                  <a:srgbClr val="888888"/>
                </a:solidFill>
                <a:latin typeface="Arial"/>
              </a:rPr>
              <a:t>FINALISTES</a:t>
            </a:r>
          </a:p>
        </p:txBody>
      </p:sp>
      <p:sp>
        <p:nvSpPr>
          <p:cNvPr id="20" name="TextBox 19"/>
          <p:cNvSpPr txBox="1"/>
          <p:nvPr/>
        </p:nvSpPr>
        <p:spPr>
          <a:xfrm>
            <a:off x="365760" y="6309360"/>
            <a:ext cx="10972800" cy="347472"/>
          </a:xfrm>
          <a:prstGeom prst="rect">
            <a:avLst/>
          </a:prstGeom>
          <a:noFill/>
        </p:spPr>
        <p:txBody>
          <a:bodyPr wrap="square">
            <a:spAutoFit/>
          </a:bodyPr>
          <a:lstStyle/>
          <a:p>
            <a:pPr algn="l"/>
            <a:r>
              <a:rPr sz="800" b="0">
                <a:solidFill>
                  <a:srgbClr val="888888"/>
                </a:solidFill>
                <a:latin typeface="Arial"/>
              </a:rPr>
              <a:t>Big 5 2024/25 | Thomasson Engine v6.0 | Transfermarkt Budget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457200"/>
          </a:xfrm>
          <a:prstGeom prst="rect">
            <a:avLst/>
          </a:prstGeom>
          <a:noFill/>
        </p:spPr>
        <p:txBody>
          <a:bodyPr wrap="square">
            <a:spAutoFit/>
          </a:bodyPr>
          <a:lstStyle/>
          <a:p>
            <a:pPr algn="l"/>
            <a:r>
              <a:rPr sz="2000" b="1">
                <a:solidFill>
                  <a:srgbClr val="0A0A0A"/>
                </a:solidFill>
                <a:latin typeface="Arial Black"/>
              </a:rPr>
              <a:t>01 — CONTEXTE BUDGÉTAIRE RC LENS</a:t>
            </a:r>
          </a:p>
        </p:txBody>
      </p:sp>
      <p:sp>
        <p:nvSpPr>
          <p:cNvPr id="4" name="TextBox 3"/>
          <p:cNvSpPr txBox="1"/>
          <p:nvPr/>
        </p:nvSpPr>
        <p:spPr>
          <a:xfrm>
            <a:off x="365760" y="749808"/>
            <a:ext cx="10972800" cy="320040"/>
          </a:xfrm>
          <a:prstGeom prst="rect">
            <a:avLst/>
          </a:prstGeom>
          <a:noFill/>
        </p:spPr>
        <p:txBody>
          <a:bodyPr wrap="square">
            <a:spAutoFit/>
          </a:bodyPr>
          <a:lstStyle/>
          <a:p>
            <a:pPr algn="l"/>
            <a:r>
              <a:rPr sz="1000" b="0">
                <a:solidFill>
                  <a:srgbClr val="888888"/>
                </a:solidFill>
                <a:latin typeface="Arial"/>
              </a:rPr>
              <a:t>Transfermarkt | 4 saisons | Budget acquisition max habituel : ~8-10M€</a:t>
            </a:r>
          </a:p>
        </p:txBody>
      </p:sp>
      <p:sp>
        <p:nvSpPr>
          <p:cNvPr id="5" name="Rectangle 4"/>
          <p:cNvSpPr/>
          <p:nvPr/>
        </p:nvSpPr>
        <p:spPr>
          <a:xfrm>
            <a:off x="274320" y="914400"/>
            <a:ext cx="28346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2834640" cy="64008"/>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024128"/>
            <a:ext cx="2560320" cy="438912"/>
          </a:xfrm>
          <a:prstGeom prst="rect">
            <a:avLst/>
          </a:prstGeom>
          <a:noFill/>
        </p:spPr>
        <p:txBody>
          <a:bodyPr wrap="square">
            <a:spAutoFit/>
          </a:bodyPr>
          <a:lstStyle/>
          <a:p>
            <a:pPr algn="ctr"/>
            <a:r>
              <a:rPr sz="3000" b="1">
                <a:solidFill>
                  <a:srgbClr val="E30613"/>
                </a:solidFill>
                <a:latin typeface="Arial Black"/>
              </a:rPr>
              <a:t>56.4M€</a:t>
            </a:r>
          </a:p>
        </p:txBody>
      </p:sp>
      <p:sp>
        <p:nvSpPr>
          <p:cNvPr id="8" name="TextBox 7"/>
          <p:cNvSpPr txBox="1"/>
          <p:nvPr/>
        </p:nvSpPr>
        <p:spPr>
          <a:xfrm>
            <a:off x="411479" y="1463040"/>
            <a:ext cx="2560320" cy="219456"/>
          </a:xfrm>
          <a:prstGeom prst="rect">
            <a:avLst/>
          </a:prstGeom>
          <a:noFill/>
        </p:spPr>
        <p:txBody>
          <a:bodyPr wrap="square">
            <a:spAutoFit/>
          </a:bodyPr>
          <a:lstStyle/>
          <a:p>
            <a:pPr algn="ctr"/>
            <a:r>
              <a:rPr sz="1000" b="0">
                <a:solidFill>
                  <a:srgbClr val="888888"/>
                </a:solidFill>
                <a:latin typeface="Arial"/>
              </a:rPr>
              <a:t>Dépenses 25/26</a:t>
            </a:r>
          </a:p>
        </p:txBody>
      </p:sp>
      <p:sp>
        <p:nvSpPr>
          <p:cNvPr id="9" name="Rectangle 8"/>
          <p:cNvSpPr/>
          <p:nvPr/>
        </p:nvSpPr>
        <p:spPr>
          <a:xfrm>
            <a:off x="3246120" y="914400"/>
            <a:ext cx="28346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6120" y="914400"/>
            <a:ext cx="2834640" cy="640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79" y="1024128"/>
            <a:ext cx="2560320" cy="438912"/>
          </a:xfrm>
          <a:prstGeom prst="rect">
            <a:avLst/>
          </a:prstGeom>
          <a:noFill/>
        </p:spPr>
        <p:txBody>
          <a:bodyPr wrap="square">
            <a:spAutoFit/>
          </a:bodyPr>
          <a:lstStyle/>
          <a:p>
            <a:pPr algn="ctr"/>
            <a:r>
              <a:rPr sz="3000" b="1">
                <a:solidFill>
                  <a:srgbClr val="4CAF50"/>
                </a:solidFill>
                <a:latin typeface="Arial Black"/>
              </a:rPr>
              <a:t>102M€</a:t>
            </a:r>
          </a:p>
        </p:txBody>
      </p:sp>
      <p:sp>
        <p:nvSpPr>
          <p:cNvPr id="12" name="TextBox 11"/>
          <p:cNvSpPr txBox="1"/>
          <p:nvPr/>
        </p:nvSpPr>
        <p:spPr>
          <a:xfrm>
            <a:off x="3383279" y="1463040"/>
            <a:ext cx="2560320" cy="219456"/>
          </a:xfrm>
          <a:prstGeom prst="rect">
            <a:avLst/>
          </a:prstGeom>
          <a:noFill/>
        </p:spPr>
        <p:txBody>
          <a:bodyPr wrap="square">
            <a:spAutoFit/>
          </a:bodyPr>
          <a:lstStyle/>
          <a:p>
            <a:pPr algn="ctr"/>
            <a:r>
              <a:rPr sz="1000" b="0">
                <a:solidFill>
                  <a:srgbClr val="888888"/>
                </a:solidFill>
                <a:latin typeface="Arial"/>
              </a:rPr>
              <a:t>Revenus 25/26</a:t>
            </a:r>
          </a:p>
        </p:txBody>
      </p:sp>
      <p:sp>
        <p:nvSpPr>
          <p:cNvPr id="13" name="Rectangle 12"/>
          <p:cNvSpPr/>
          <p:nvPr/>
        </p:nvSpPr>
        <p:spPr>
          <a:xfrm>
            <a:off x="6217920" y="914400"/>
            <a:ext cx="28346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914400"/>
            <a:ext cx="283464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024128"/>
            <a:ext cx="2560320" cy="438912"/>
          </a:xfrm>
          <a:prstGeom prst="rect">
            <a:avLst/>
          </a:prstGeom>
          <a:noFill/>
        </p:spPr>
        <p:txBody>
          <a:bodyPr wrap="square">
            <a:spAutoFit/>
          </a:bodyPr>
          <a:lstStyle/>
          <a:p>
            <a:pPr algn="ctr"/>
            <a:r>
              <a:rPr sz="3000" b="1">
                <a:solidFill>
                  <a:srgbClr val="F5A623"/>
                </a:solidFill>
                <a:latin typeface="Arial Black"/>
              </a:rPr>
              <a:t>+45.6M€</a:t>
            </a:r>
          </a:p>
        </p:txBody>
      </p:sp>
      <p:sp>
        <p:nvSpPr>
          <p:cNvPr id="16" name="TextBox 15"/>
          <p:cNvSpPr txBox="1"/>
          <p:nvPr/>
        </p:nvSpPr>
        <p:spPr>
          <a:xfrm>
            <a:off x="6355080" y="1463040"/>
            <a:ext cx="2560320" cy="219456"/>
          </a:xfrm>
          <a:prstGeom prst="rect">
            <a:avLst/>
          </a:prstGeom>
          <a:noFill/>
        </p:spPr>
        <p:txBody>
          <a:bodyPr wrap="square">
            <a:spAutoFit/>
          </a:bodyPr>
          <a:lstStyle/>
          <a:p>
            <a:pPr algn="ctr"/>
            <a:r>
              <a:rPr sz="1000" b="0">
                <a:solidFill>
                  <a:srgbClr val="888888"/>
                </a:solidFill>
                <a:latin typeface="Arial"/>
              </a:rPr>
              <a:t>Solde Net</a:t>
            </a:r>
          </a:p>
        </p:txBody>
      </p:sp>
      <p:sp>
        <p:nvSpPr>
          <p:cNvPr id="17" name="Rectangle 16"/>
          <p:cNvSpPr/>
          <p:nvPr/>
        </p:nvSpPr>
        <p:spPr>
          <a:xfrm>
            <a:off x="9189720" y="914400"/>
            <a:ext cx="28346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89720" y="914400"/>
            <a:ext cx="2834640" cy="640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1024128"/>
            <a:ext cx="2560320" cy="438912"/>
          </a:xfrm>
          <a:prstGeom prst="rect">
            <a:avLst/>
          </a:prstGeom>
          <a:noFill/>
        </p:spPr>
        <p:txBody>
          <a:bodyPr wrap="square">
            <a:spAutoFit/>
          </a:bodyPr>
          <a:lstStyle/>
          <a:p>
            <a:pPr algn="ctr"/>
            <a:r>
              <a:rPr sz="3000" b="1">
                <a:solidFill>
                  <a:srgbClr val="F2F2F2"/>
                </a:solidFill>
                <a:latin typeface="Arial Black"/>
              </a:rPr>
              <a:t>~10M€</a:t>
            </a:r>
          </a:p>
        </p:txBody>
      </p:sp>
      <p:sp>
        <p:nvSpPr>
          <p:cNvPr id="20" name="TextBox 19"/>
          <p:cNvSpPr txBox="1"/>
          <p:nvPr/>
        </p:nvSpPr>
        <p:spPr>
          <a:xfrm>
            <a:off x="9326880" y="1463040"/>
            <a:ext cx="2560320" cy="219456"/>
          </a:xfrm>
          <a:prstGeom prst="rect">
            <a:avLst/>
          </a:prstGeom>
          <a:noFill/>
        </p:spPr>
        <p:txBody>
          <a:bodyPr wrap="square">
            <a:spAutoFit/>
          </a:bodyPr>
          <a:lstStyle/>
          <a:p>
            <a:pPr algn="ctr"/>
            <a:r>
              <a:rPr sz="1000" b="0">
                <a:solidFill>
                  <a:srgbClr val="888888"/>
                </a:solidFill>
                <a:latin typeface="Arial"/>
              </a:rPr>
              <a:t>Budget Cible</a:t>
            </a:r>
          </a:p>
        </p:txBody>
      </p:sp>
      <p:pic>
        <p:nvPicPr>
          <p:cNvPr id="21" name="Picture 20" descr="v6_budget_history.png"/>
          <p:cNvPicPr>
            <a:picLocks noChangeAspect="1"/>
          </p:cNvPicPr>
          <p:nvPr/>
        </p:nvPicPr>
        <p:blipFill>
          <a:blip r:embed="rId2"/>
          <a:stretch>
            <a:fillRect/>
          </a:stretch>
        </p:blipFill>
        <p:spPr>
          <a:xfrm>
            <a:off x="274320" y="1874519"/>
            <a:ext cx="11612880" cy="47548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457200"/>
          </a:xfrm>
          <a:prstGeom prst="rect">
            <a:avLst/>
          </a:prstGeom>
          <a:noFill/>
        </p:spPr>
        <p:txBody>
          <a:bodyPr wrap="square">
            <a:spAutoFit/>
          </a:bodyPr>
          <a:lstStyle/>
          <a:p>
            <a:pPr algn="l"/>
            <a:r>
              <a:rPr sz="2000" b="1">
                <a:solidFill>
                  <a:srgbClr val="F2F2F2"/>
                </a:solidFill>
                <a:latin typeface="Arial Black"/>
              </a:rPr>
              <a:t>02 — MATRICE DÉCISION BUDGET</a:t>
            </a:r>
          </a:p>
        </p:txBody>
      </p:sp>
      <p:sp>
        <p:nvSpPr>
          <p:cNvPr id="4" name="TextBox 3"/>
          <p:cNvSpPr txBox="1"/>
          <p:nvPr/>
        </p:nvSpPr>
        <p:spPr>
          <a:xfrm>
            <a:off x="365760" y="749808"/>
            <a:ext cx="10972800" cy="320040"/>
          </a:xfrm>
          <a:prstGeom prst="rect">
            <a:avLst/>
          </a:prstGeom>
          <a:noFill/>
        </p:spPr>
        <p:txBody>
          <a:bodyPr wrap="square">
            <a:spAutoFit/>
          </a:bodyPr>
          <a:lstStyle/>
          <a:p>
            <a:pPr algn="l"/>
            <a:r>
              <a:rPr sz="1000" b="0">
                <a:solidFill>
                  <a:srgbClr val="888888"/>
                </a:solidFill>
                <a:latin typeface="Arial"/>
              </a:rPr>
              <a:t>Score Composite × Valeur de Marché | Zone verte = accessible ≤10M€ | Zone orange = stretch | X = faux-positifs</a:t>
            </a:r>
          </a:p>
        </p:txBody>
      </p:sp>
      <p:pic>
        <p:nvPicPr>
          <p:cNvPr id="5" name="Picture 4" descr="v6_budget_matrix.png"/>
          <p:cNvPicPr>
            <a:picLocks noChangeAspect="1"/>
          </p:cNvPicPr>
          <p:nvPr/>
        </p:nvPicPr>
        <p:blipFill>
          <a:blip r:embed="rId2"/>
          <a:stretch>
            <a:fillRect/>
          </a:stretch>
        </p:blipFill>
        <p:spPr>
          <a:xfrm>
            <a:off x="274320" y="1051560"/>
            <a:ext cx="11612880" cy="5577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457200"/>
          </a:xfrm>
          <a:prstGeom prst="rect">
            <a:avLst/>
          </a:prstGeom>
          <a:noFill/>
        </p:spPr>
        <p:txBody>
          <a:bodyPr wrap="square">
            <a:spAutoFit/>
          </a:bodyPr>
          <a:lstStyle/>
          <a:p>
            <a:pPr algn="l"/>
            <a:r>
              <a:rPr sz="2000" b="1">
                <a:solidFill>
                  <a:srgbClr val="F2F2F2"/>
                </a:solidFill>
                <a:latin typeface="Arial Black"/>
              </a:rPr>
              <a:t>03 — PORTRAIT THOMASSON | ADN DE JEU À REPRODUIRE</a:t>
            </a:r>
          </a:p>
        </p:txBody>
      </p:sp>
      <p:sp>
        <p:nvSpPr>
          <p:cNvPr id="4" name="Rectangle 3"/>
          <p:cNvSpPr/>
          <p:nvPr/>
        </p:nvSpPr>
        <p:spPr>
          <a:xfrm>
            <a:off x="274320" y="822960"/>
            <a:ext cx="25603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822960"/>
            <a:ext cx="64008" cy="749808"/>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59536"/>
            <a:ext cx="2194560" cy="402336"/>
          </a:xfrm>
          <a:prstGeom prst="rect">
            <a:avLst/>
          </a:prstGeom>
          <a:noFill/>
        </p:spPr>
        <p:txBody>
          <a:bodyPr wrap="square">
            <a:spAutoFit/>
          </a:bodyPr>
          <a:lstStyle/>
          <a:p>
            <a:pPr algn="l"/>
            <a:r>
              <a:rPr sz="2600" b="1">
                <a:solidFill>
                  <a:srgbClr val="F2F2F2"/>
                </a:solidFill>
                <a:latin typeface="Arial Black"/>
              </a:rPr>
              <a:t>2.95</a:t>
            </a:r>
          </a:p>
        </p:txBody>
      </p:sp>
      <p:sp>
        <p:nvSpPr>
          <p:cNvPr id="7" name="TextBox 6"/>
          <p:cNvSpPr txBox="1"/>
          <p:nvPr/>
        </p:nvSpPr>
        <p:spPr>
          <a:xfrm>
            <a:off x="457200" y="1280160"/>
            <a:ext cx="2194560" cy="256032"/>
          </a:xfrm>
          <a:prstGeom prst="rect">
            <a:avLst/>
          </a:prstGeom>
          <a:noFill/>
        </p:spPr>
        <p:txBody>
          <a:bodyPr wrap="square">
            <a:spAutoFit/>
          </a:bodyPr>
          <a:lstStyle/>
          <a:p>
            <a:pPr algn="l"/>
            <a:r>
              <a:rPr sz="900" b="0">
                <a:solidFill>
                  <a:srgbClr val="888888"/>
                </a:solidFill>
                <a:latin typeface="Arial"/>
              </a:rPr>
              <a:t>Tacles/90</a:t>
            </a:r>
          </a:p>
        </p:txBody>
      </p:sp>
      <p:sp>
        <p:nvSpPr>
          <p:cNvPr id="8" name="Rectangle 7"/>
          <p:cNvSpPr/>
          <p:nvPr/>
        </p:nvSpPr>
        <p:spPr>
          <a:xfrm>
            <a:off x="3017520" y="822960"/>
            <a:ext cx="25603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17520" y="822960"/>
            <a:ext cx="64008" cy="749808"/>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859536"/>
            <a:ext cx="2194560" cy="402336"/>
          </a:xfrm>
          <a:prstGeom prst="rect">
            <a:avLst/>
          </a:prstGeom>
          <a:noFill/>
        </p:spPr>
        <p:txBody>
          <a:bodyPr wrap="square">
            <a:spAutoFit/>
          </a:bodyPr>
          <a:lstStyle/>
          <a:p>
            <a:pPr algn="l"/>
            <a:r>
              <a:rPr sz="2600" b="1">
                <a:solidFill>
                  <a:srgbClr val="F2F2F2"/>
                </a:solidFill>
                <a:latin typeface="Arial Black"/>
              </a:rPr>
              <a:t>0.66</a:t>
            </a:r>
          </a:p>
        </p:txBody>
      </p:sp>
      <p:sp>
        <p:nvSpPr>
          <p:cNvPr id="11" name="TextBox 10"/>
          <p:cNvSpPr txBox="1"/>
          <p:nvPr/>
        </p:nvSpPr>
        <p:spPr>
          <a:xfrm>
            <a:off x="3200400" y="1280160"/>
            <a:ext cx="2194560" cy="256032"/>
          </a:xfrm>
          <a:prstGeom prst="rect">
            <a:avLst/>
          </a:prstGeom>
          <a:noFill/>
        </p:spPr>
        <p:txBody>
          <a:bodyPr wrap="square">
            <a:spAutoFit/>
          </a:bodyPr>
          <a:lstStyle/>
          <a:p>
            <a:pPr algn="l"/>
            <a:r>
              <a:rPr sz="900" b="0">
                <a:solidFill>
                  <a:srgbClr val="888888"/>
                </a:solidFill>
                <a:latin typeface="Arial"/>
              </a:rPr>
              <a:t>Intercept./90</a:t>
            </a:r>
          </a:p>
        </p:txBody>
      </p:sp>
      <p:sp>
        <p:nvSpPr>
          <p:cNvPr id="12" name="Rectangle 11"/>
          <p:cNvSpPr/>
          <p:nvPr/>
        </p:nvSpPr>
        <p:spPr>
          <a:xfrm>
            <a:off x="5760720" y="822960"/>
            <a:ext cx="25603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0" y="822960"/>
            <a:ext cx="64008" cy="7498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859536"/>
            <a:ext cx="2194560" cy="402336"/>
          </a:xfrm>
          <a:prstGeom prst="rect">
            <a:avLst/>
          </a:prstGeom>
          <a:noFill/>
        </p:spPr>
        <p:txBody>
          <a:bodyPr wrap="square">
            <a:spAutoFit/>
          </a:bodyPr>
          <a:lstStyle/>
          <a:p>
            <a:pPr algn="l"/>
            <a:r>
              <a:rPr sz="2600" b="1">
                <a:solidFill>
                  <a:srgbClr val="F2F2F2"/>
                </a:solidFill>
                <a:latin typeface="Arial Black"/>
              </a:rPr>
              <a:t>2.44</a:t>
            </a:r>
          </a:p>
        </p:txBody>
      </p:sp>
      <p:sp>
        <p:nvSpPr>
          <p:cNvPr id="15" name="TextBox 14"/>
          <p:cNvSpPr txBox="1"/>
          <p:nvPr/>
        </p:nvSpPr>
        <p:spPr>
          <a:xfrm>
            <a:off x="5943600" y="1280160"/>
            <a:ext cx="2194560" cy="256032"/>
          </a:xfrm>
          <a:prstGeom prst="rect">
            <a:avLst/>
          </a:prstGeom>
          <a:noFill/>
        </p:spPr>
        <p:txBody>
          <a:bodyPr wrap="square">
            <a:spAutoFit/>
          </a:bodyPr>
          <a:lstStyle/>
          <a:p>
            <a:pPr algn="l"/>
            <a:r>
              <a:rPr sz="900" b="0">
                <a:solidFill>
                  <a:srgbClr val="888888"/>
                </a:solidFill>
                <a:latin typeface="Arial"/>
              </a:rPr>
              <a:t>Passes Clés/90</a:t>
            </a:r>
          </a:p>
        </p:txBody>
      </p:sp>
      <p:sp>
        <p:nvSpPr>
          <p:cNvPr id="16" name="Rectangle 15"/>
          <p:cNvSpPr/>
          <p:nvPr/>
        </p:nvSpPr>
        <p:spPr>
          <a:xfrm>
            <a:off x="8503920" y="822960"/>
            <a:ext cx="25603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03920" y="822960"/>
            <a:ext cx="64008" cy="7498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859536"/>
            <a:ext cx="2194560" cy="402336"/>
          </a:xfrm>
          <a:prstGeom prst="rect">
            <a:avLst/>
          </a:prstGeom>
          <a:noFill/>
        </p:spPr>
        <p:txBody>
          <a:bodyPr wrap="square">
            <a:spAutoFit/>
          </a:bodyPr>
          <a:lstStyle/>
          <a:p>
            <a:pPr algn="l"/>
            <a:r>
              <a:rPr sz="2600" b="1">
                <a:solidFill>
                  <a:srgbClr val="F2F2F2"/>
                </a:solidFill>
                <a:latin typeface="Arial Black"/>
              </a:rPr>
              <a:t>0.33</a:t>
            </a:r>
          </a:p>
        </p:txBody>
      </p:sp>
      <p:sp>
        <p:nvSpPr>
          <p:cNvPr id="19" name="TextBox 18"/>
          <p:cNvSpPr txBox="1"/>
          <p:nvPr/>
        </p:nvSpPr>
        <p:spPr>
          <a:xfrm>
            <a:off x="8686800" y="1280160"/>
            <a:ext cx="2194560" cy="256032"/>
          </a:xfrm>
          <a:prstGeom prst="rect">
            <a:avLst/>
          </a:prstGeom>
          <a:noFill/>
        </p:spPr>
        <p:txBody>
          <a:bodyPr wrap="square">
            <a:spAutoFit/>
          </a:bodyPr>
          <a:lstStyle/>
          <a:p>
            <a:pPr algn="l"/>
            <a:r>
              <a:rPr sz="900" b="0">
                <a:solidFill>
                  <a:srgbClr val="888888"/>
                </a:solidFill>
                <a:latin typeface="Arial"/>
              </a:rPr>
              <a:t>Big Chances/90</a:t>
            </a:r>
          </a:p>
        </p:txBody>
      </p:sp>
      <p:sp>
        <p:nvSpPr>
          <p:cNvPr id="20" name="Rectangle 19"/>
          <p:cNvSpPr/>
          <p:nvPr/>
        </p:nvSpPr>
        <p:spPr>
          <a:xfrm>
            <a:off x="274320" y="1664208"/>
            <a:ext cx="25603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1664208"/>
            <a:ext cx="64008" cy="7498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1700784"/>
            <a:ext cx="2194560" cy="402336"/>
          </a:xfrm>
          <a:prstGeom prst="rect">
            <a:avLst/>
          </a:prstGeom>
          <a:noFill/>
        </p:spPr>
        <p:txBody>
          <a:bodyPr wrap="square">
            <a:spAutoFit/>
          </a:bodyPr>
          <a:lstStyle/>
          <a:p>
            <a:pPr algn="l"/>
            <a:r>
              <a:rPr sz="2600" b="1">
                <a:solidFill>
                  <a:srgbClr val="F2F2F2"/>
                </a:solidFill>
                <a:latin typeface="Arial Black"/>
              </a:rPr>
              <a:t>0.19</a:t>
            </a:r>
          </a:p>
        </p:txBody>
      </p:sp>
      <p:sp>
        <p:nvSpPr>
          <p:cNvPr id="23" name="TextBox 22"/>
          <p:cNvSpPr txBox="1"/>
          <p:nvPr/>
        </p:nvSpPr>
        <p:spPr>
          <a:xfrm>
            <a:off x="457200" y="2121408"/>
            <a:ext cx="2194560" cy="256032"/>
          </a:xfrm>
          <a:prstGeom prst="rect">
            <a:avLst/>
          </a:prstGeom>
          <a:noFill/>
        </p:spPr>
        <p:txBody>
          <a:bodyPr wrap="square">
            <a:spAutoFit/>
          </a:bodyPr>
          <a:lstStyle/>
          <a:p>
            <a:pPr algn="l"/>
            <a:r>
              <a:rPr sz="900" b="0">
                <a:solidFill>
                  <a:srgbClr val="888888"/>
                </a:solidFill>
                <a:latin typeface="Arial"/>
              </a:rPr>
              <a:t>xA/90</a:t>
            </a:r>
          </a:p>
        </p:txBody>
      </p:sp>
      <p:sp>
        <p:nvSpPr>
          <p:cNvPr id="24" name="Rectangle 23"/>
          <p:cNvSpPr/>
          <p:nvPr/>
        </p:nvSpPr>
        <p:spPr>
          <a:xfrm>
            <a:off x="3017520" y="1664208"/>
            <a:ext cx="25603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017520" y="1664208"/>
            <a:ext cx="64008" cy="7498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1700784"/>
            <a:ext cx="2194560" cy="402336"/>
          </a:xfrm>
          <a:prstGeom prst="rect">
            <a:avLst/>
          </a:prstGeom>
          <a:noFill/>
        </p:spPr>
        <p:txBody>
          <a:bodyPr wrap="square">
            <a:spAutoFit/>
          </a:bodyPr>
          <a:lstStyle/>
          <a:p>
            <a:pPr algn="l"/>
            <a:r>
              <a:rPr sz="2600" b="1">
                <a:solidFill>
                  <a:srgbClr val="F2F2F2"/>
                </a:solidFill>
                <a:latin typeface="Arial Black"/>
              </a:rPr>
              <a:t>83.2%</a:t>
            </a:r>
          </a:p>
        </p:txBody>
      </p:sp>
      <p:sp>
        <p:nvSpPr>
          <p:cNvPr id="27" name="TextBox 26"/>
          <p:cNvSpPr txBox="1"/>
          <p:nvPr/>
        </p:nvSpPr>
        <p:spPr>
          <a:xfrm>
            <a:off x="3200400" y="2121408"/>
            <a:ext cx="2194560" cy="256032"/>
          </a:xfrm>
          <a:prstGeom prst="rect">
            <a:avLst/>
          </a:prstGeom>
          <a:noFill/>
        </p:spPr>
        <p:txBody>
          <a:bodyPr wrap="square">
            <a:spAutoFit/>
          </a:bodyPr>
          <a:lstStyle/>
          <a:p>
            <a:pPr algn="l"/>
            <a:r>
              <a:rPr sz="900" b="0">
                <a:solidFill>
                  <a:srgbClr val="888888"/>
                </a:solidFill>
                <a:latin typeface="Arial"/>
              </a:rPr>
              <a:t>Précision</a:t>
            </a:r>
          </a:p>
        </p:txBody>
      </p:sp>
      <p:sp>
        <p:nvSpPr>
          <p:cNvPr id="28" name="Rectangle 27"/>
          <p:cNvSpPr/>
          <p:nvPr/>
        </p:nvSpPr>
        <p:spPr>
          <a:xfrm>
            <a:off x="5760720" y="1664208"/>
            <a:ext cx="25603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60720" y="1664208"/>
            <a:ext cx="64008" cy="7498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0" y="1700784"/>
            <a:ext cx="2194560" cy="402336"/>
          </a:xfrm>
          <a:prstGeom prst="rect">
            <a:avLst/>
          </a:prstGeom>
          <a:noFill/>
        </p:spPr>
        <p:txBody>
          <a:bodyPr wrap="square">
            <a:spAutoFit/>
          </a:bodyPr>
          <a:lstStyle/>
          <a:p>
            <a:pPr algn="l"/>
            <a:r>
              <a:rPr sz="2600" b="1">
                <a:solidFill>
                  <a:srgbClr val="F2F2F2"/>
                </a:solidFill>
                <a:latin typeface="Arial Black"/>
              </a:rPr>
              <a:t>44.2%</a:t>
            </a:r>
          </a:p>
        </p:txBody>
      </p:sp>
      <p:sp>
        <p:nvSpPr>
          <p:cNvPr id="31" name="TextBox 30"/>
          <p:cNvSpPr txBox="1"/>
          <p:nvPr/>
        </p:nvSpPr>
        <p:spPr>
          <a:xfrm>
            <a:off x="5943600" y="2121408"/>
            <a:ext cx="2194560" cy="256032"/>
          </a:xfrm>
          <a:prstGeom prst="rect">
            <a:avLst/>
          </a:prstGeom>
          <a:noFill/>
        </p:spPr>
        <p:txBody>
          <a:bodyPr wrap="square">
            <a:spAutoFit/>
          </a:bodyPr>
          <a:lstStyle/>
          <a:p>
            <a:pPr algn="l"/>
            <a:r>
              <a:rPr sz="900" b="0">
                <a:solidFill>
                  <a:srgbClr val="888888"/>
                </a:solidFill>
                <a:latin typeface="Arial"/>
              </a:rPr>
              <a:t>Duels Sol</a:t>
            </a:r>
          </a:p>
        </p:txBody>
      </p:sp>
      <p:sp>
        <p:nvSpPr>
          <p:cNvPr id="32" name="Rectangle 31"/>
          <p:cNvSpPr/>
          <p:nvPr/>
        </p:nvSpPr>
        <p:spPr>
          <a:xfrm>
            <a:off x="8503920" y="1664208"/>
            <a:ext cx="25603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03920" y="1664208"/>
            <a:ext cx="64008" cy="7498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0" y="1700784"/>
            <a:ext cx="2194560" cy="402336"/>
          </a:xfrm>
          <a:prstGeom prst="rect">
            <a:avLst/>
          </a:prstGeom>
          <a:noFill/>
        </p:spPr>
        <p:txBody>
          <a:bodyPr wrap="square">
            <a:spAutoFit/>
          </a:bodyPr>
          <a:lstStyle/>
          <a:p>
            <a:pPr algn="l"/>
            <a:r>
              <a:rPr sz="2600" b="1">
                <a:solidFill>
                  <a:srgbClr val="F2F2F2"/>
                </a:solidFill>
                <a:latin typeface="Arial Black"/>
              </a:rPr>
              <a:t>6.88</a:t>
            </a:r>
          </a:p>
        </p:txBody>
      </p:sp>
      <p:sp>
        <p:nvSpPr>
          <p:cNvPr id="35" name="TextBox 34"/>
          <p:cNvSpPr txBox="1"/>
          <p:nvPr/>
        </p:nvSpPr>
        <p:spPr>
          <a:xfrm>
            <a:off x="8686800" y="2121408"/>
            <a:ext cx="2194560" cy="256032"/>
          </a:xfrm>
          <a:prstGeom prst="rect">
            <a:avLst/>
          </a:prstGeom>
          <a:noFill/>
        </p:spPr>
        <p:txBody>
          <a:bodyPr wrap="square">
            <a:spAutoFit/>
          </a:bodyPr>
          <a:lstStyle/>
          <a:p>
            <a:pPr algn="l"/>
            <a:r>
              <a:rPr sz="900" b="0">
                <a:solidFill>
                  <a:srgbClr val="888888"/>
                </a:solidFill>
                <a:latin typeface="Arial"/>
              </a:rPr>
              <a:t>Rating</a:t>
            </a:r>
          </a:p>
        </p:txBody>
      </p:sp>
      <p:pic>
        <p:nvPicPr>
          <p:cNvPr id="36" name="Picture 35" descr="thomasson_radar.png"/>
          <p:cNvPicPr>
            <a:picLocks noChangeAspect="1"/>
          </p:cNvPicPr>
          <p:nvPr/>
        </p:nvPicPr>
        <p:blipFill>
          <a:blip r:embed="rId2"/>
          <a:stretch>
            <a:fillRect/>
          </a:stretch>
        </p:blipFill>
        <p:spPr>
          <a:xfrm>
            <a:off x="274320" y="2651760"/>
            <a:ext cx="3749039" cy="3977639"/>
          </a:xfrm>
          <a:prstGeom prst="rect">
            <a:avLst/>
          </a:prstGeom>
        </p:spPr>
      </p:pic>
      <p:pic>
        <p:nvPicPr>
          <p:cNvPr id="37" name="Picture 36" descr="scatter_pressing_creation.png"/>
          <p:cNvPicPr>
            <a:picLocks noChangeAspect="1"/>
          </p:cNvPicPr>
          <p:nvPr/>
        </p:nvPicPr>
        <p:blipFill>
          <a:blip r:embed="rId3"/>
          <a:stretch>
            <a:fillRect/>
          </a:stretch>
        </p:blipFill>
        <p:spPr>
          <a:xfrm>
            <a:off x="4160520" y="2651760"/>
            <a:ext cx="7772400" cy="397763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457200"/>
          </a:xfrm>
          <a:prstGeom prst="rect">
            <a:avLst/>
          </a:prstGeom>
          <a:noFill/>
        </p:spPr>
        <p:txBody>
          <a:bodyPr wrap="square">
            <a:spAutoFit/>
          </a:bodyPr>
          <a:lstStyle/>
          <a:p>
            <a:pPr algn="l"/>
            <a:r>
              <a:rPr sz="2000" b="1">
                <a:solidFill>
                  <a:srgbClr val="F2F2F2"/>
                </a:solidFill>
                <a:latin typeface="Arial Black"/>
              </a:rPr>
              <a:t>04 — FILTRAGE HUMAIN POST-ALGORITHME</a:t>
            </a:r>
          </a:p>
        </p:txBody>
      </p:sp>
      <p:sp>
        <p:nvSpPr>
          <p:cNvPr id="4" name="TextBox 3"/>
          <p:cNvSpPr txBox="1"/>
          <p:nvPr/>
        </p:nvSpPr>
        <p:spPr>
          <a:xfrm>
            <a:off x="365760" y="749808"/>
            <a:ext cx="10972800" cy="320040"/>
          </a:xfrm>
          <a:prstGeom prst="rect">
            <a:avLst/>
          </a:prstGeom>
          <a:noFill/>
        </p:spPr>
        <p:txBody>
          <a:bodyPr wrap="square">
            <a:spAutoFit/>
          </a:bodyPr>
          <a:lstStyle/>
          <a:p>
            <a:pPr algn="l"/>
            <a:r>
              <a:rPr sz="1000" b="0">
                <a:solidFill>
                  <a:srgbClr val="888888"/>
                </a:solidFill>
                <a:latin typeface="Arial"/>
              </a:rPr>
              <a:t>La data identifie les patterns. L'analyste juge la transférabilité, les red flags, l'adéquation tactique.</a:t>
            </a:r>
          </a:p>
        </p:txBody>
      </p:sp>
      <p:pic>
        <p:nvPicPr>
          <p:cNvPr id="5" name="Picture 4" descr="v6_funnel.png"/>
          <p:cNvPicPr>
            <a:picLocks noChangeAspect="1"/>
          </p:cNvPicPr>
          <p:nvPr/>
        </p:nvPicPr>
        <p:blipFill>
          <a:blip r:embed="rId2"/>
          <a:stretch>
            <a:fillRect/>
          </a:stretch>
        </p:blipFill>
        <p:spPr>
          <a:xfrm>
            <a:off x="274320" y="1051560"/>
            <a:ext cx="5303520" cy="5577840"/>
          </a:xfrm>
          <a:prstGeom prst="rect">
            <a:avLst/>
          </a:prstGeom>
        </p:spPr>
      </p:pic>
      <p:sp>
        <p:nvSpPr>
          <p:cNvPr id="6" name="Rectangle 5"/>
          <p:cNvSpPr/>
          <p:nvPr/>
        </p:nvSpPr>
        <p:spPr>
          <a:xfrm>
            <a:off x="5852160" y="1051560"/>
            <a:ext cx="6035040" cy="5577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0" y="1051560"/>
            <a:ext cx="6035040" cy="54864"/>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89320" y="1143000"/>
            <a:ext cx="5715000" cy="320040"/>
          </a:xfrm>
          <a:prstGeom prst="rect">
            <a:avLst/>
          </a:prstGeom>
          <a:noFill/>
        </p:spPr>
        <p:txBody>
          <a:bodyPr wrap="square">
            <a:spAutoFit/>
          </a:bodyPr>
          <a:lstStyle/>
          <a:p>
            <a:pPr algn="l"/>
            <a:r>
              <a:rPr sz="1200" b="1">
                <a:solidFill>
                  <a:srgbClr val="E30613"/>
                </a:solidFill>
                <a:latin typeface="Arial Black"/>
              </a:rPr>
              <a:t>FAUX-POSITIFS ALGORITHMIQUES ELIMINÉS</a:t>
            </a:r>
          </a:p>
        </p:txBody>
      </p:sp>
      <p:sp>
        <p:nvSpPr>
          <p:cNvPr id="9" name="Rectangle 8"/>
          <p:cNvSpPr/>
          <p:nvPr/>
        </p:nvSpPr>
        <p:spPr>
          <a:xfrm>
            <a:off x="5989320" y="1600200"/>
            <a:ext cx="5760720" cy="713232"/>
          </a:xfrm>
          <a:prstGeom prst="rect">
            <a:avLst/>
          </a:prstGeom>
          <a:solidFill>
            <a:srgbClr val="20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645920"/>
            <a:ext cx="5394960" cy="274320"/>
          </a:xfrm>
          <a:prstGeom prst="rect">
            <a:avLst/>
          </a:prstGeom>
          <a:noFill/>
        </p:spPr>
        <p:txBody>
          <a:bodyPr wrap="square">
            <a:spAutoFit/>
          </a:bodyPr>
          <a:lstStyle/>
          <a:p>
            <a:pPr algn="l"/>
            <a:r>
              <a:rPr sz="1100" b="1">
                <a:solidFill>
                  <a:srgbClr val="FF4444"/>
                </a:solidFill>
                <a:latin typeface="Arial Black"/>
              </a:rPr>
              <a:t>X  Lamine Yamal</a:t>
            </a:r>
          </a:p>
        </p:txBody>
      </p:sp>
      <p:sp>
        <p:nvSpPr>
          <p:cNvPr id="11" name="TextBox 10"/>
          <p:cNvSpPr txBox="1"/>
          <p:nvPr/>
        </p:nvSpPr>
        <p:spPr>
          <a:xfrm>
            <a:off x="6126480" y="1947672"/>
            <a:ext cx="5394960" cy="329184"/>
          </a:xfrm>
          <a:prstGeom prst="rect">
            <a:avLst/>
          </a:prstGeom>
          <a:noFill/>
        </p:spPr>
        <p:txBody>
          <a:bodyPr wrap="square">
            <a:spAutoFit/>
          </a:bodyPr>
          <a:lstStyle/>
          <a:p>
            <a:pPr algn="l"/>
            <a:r>
              <a:rPr sz="900" b="0">
                <a:solidFill>
                  <a:srgbClr val="888888"/>
                </a:solidFill>
                <a:latin typeface="Arial"/>
              </a:rPr>
              <a:t>Intransférable — Ailier Masia dans les plans de Flick. Faux positif.</a:t>
            </a:r>
          </a:p>
        </p:txBody>
      </p:sp>
      <p:sp>
        <p:nvSpPr>
          <p:cNvPr id="12" name="Rectangle 11"/>
          <p:cNvSpPr/>
          <p:nvPr/>
        </p:nvSpPr>
        <p:spPr>
          <a:xfrm>
            <a:off x="5989320" y="2423160"/>
            <a:ext cx="5760720" cy="713232"/>
          </a:xfrm>
          <a:prstGeom prst="rect">
            <a:avLst/>
          </a:prstGeom>
          <a:solidFill>
            <a:srgbClr val="20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2468879"/>
            <a:ext cx="5394960" cy="274320"/>
          </a:xfrm>
          <a:prstGeom prst="rect">
            <a:avLst/>
          </a:prstGeom>
          <a:noFill/>
        </p:spPr>
        <p:txBody>
          <a:bodyPr wrap="square">
            <a:spAutoFit/>
          </a:bodyPr>
          <a:lstStyle/>
          <a:p>
            <a:pPr algn="l"/>
            <a:r>
              <a:rPr sz="1100" b="1">
                <a:solidFill>
                  <a:srgbClr val="FF4444"/>
                </a:solidFill>
                <a:latin typeface="Arial Black"/>
              </a:rPr>
              <a:t>X  Patrizio Masini</a:t>
            </a:r>
          </a:p>
        </p:txBody>
      </p:sp>
      <p:sp>
        <p:nvSpPr>
          <p:cNvPr id="14" name="TextBox 13"/>
          <p:cNvSpPr txBox="1"/>
          <p:nvPr/>
        </p:nvSpPr>
        <p:spPr>
          <a:xfrm>
            <a:off x="6126480" y="2770632"/>
            <a:ext cx="5394960" cy="329184"/>
          </a:xfrm>
          <a:prstGeom prst="rect">
            <a:avLst/>
          </a:prstGeom>
          <a:noFill/>
        </p:spPr>
        <p:txBody>
          <a:bodyPr wrap="square">
            <a:spAutoFit/>
          </a:bodyPr>
          <a:lstStyle/>
          <a:p>
            <a:pPr algn="l"/>
            <a:r>
              <a:rPr sz="900" b="0">
                <a:solidFill>
                  <a:srgbClr val="888888"/>
                </a:solidFill>
                <a:latin typeface="Arial"/>
              </a:rPr>
              <a:t>Trop défensif — Score création 7/100. Récupérateur pur.</a:t>
            </a:r>
          </a:p>
        </p:txBody>
      </p:sp>
      <p:sp>
        <p:nvSpPr>
          <p:cNvPr id="15" name="Rectangle 14"/>
          <p:cNvSpPr/>
          <p:nvPr/>
        </p:nvSpPr>
        <p:spPr>
          <a:xfrm>
            <a:off x="5989320" y="3246120"/>
            <a:ext cx="5760720" cy="713232"/>
          </a:xfrm>
          <a:prstGeom prst="rect">
            <a:avLst/>
          </a:prstGeom>
          <a:solidFill>
            <a:srgbClr val="20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3291839"/>
            <a:ext cx="5394960" cy="274320"/>
          </a:xfrm>
          <a:prstGeom prst="rect">
            <a:avLst/>
          </a:prstGeom>
          <a:noFill/>
        </p:spPr>
        <p:txBody>
          <a:bodyPr wrap="square">
            <a:spAutoFit/>
          </a:bodyPr>
          <a:lstStyle/>
          <a:p>
            <a:pPr algn="l"/>
            <a:r>
              <a:rPr sz="1100" b="1">
                <a:solidFill>
                  <a:srgbClr val="FF4444"/>
                </a:solidFill>
                <a:latin typeface="Arial Black"/>
              </a:rPr>
              <a:t>X  Manuel Ugarte</a:t>
            </a:r>
          </a:p>
        </p:txBody>
      </p:sp>
      <p:sp>
        <p:nvSpPr>
          <p:cNvPr id="17" name="TextBox 16"/>
          <p:cNvSpPr txBox="1"/>
          <p:nvPr/>
        </p:nvSpPr>
        <p:spPr>
          <a:xfrm>
            <a:off x="6126480" y="3593591"/>
            <a:ext cx="5394960" cy="329184"/>
          </a:xfrm>
          <a:prstGeom prst="rect">
            <a:avLst/>
          </a:prstGeom>
          <a:noFill/>
        </p:spPr>
        <p:txBody>
          <a:bodyPr wrap="square">
            <a:spAutoFit/>
          </a:bodyPr>
          <a:lstStyle/>
          <a:p>
            <a:pPr algn="l"/>
            <a:r>
              <a:rPr sz="900" b="0">
                <a:solidFill>
                  <a:srgbClr val="888888"/>
                </a:solidFill>
                <a:latin typeface="Arial"/>
              </a:rPr>
              <a:t>Trop défensif — Score création 5/100. ~50M€ en plus.</a:t>
            </a:r>
          </a:p>
        </p:txBody>
      </p:sp>
      <p:sp>
        <p:nvSpPr>
          <p:cNvPr id="18" name="Rectangle 17"/>
          <p:cNvSpPr/>
          <p:nvPr/>
        </p:nvSpPr>
        <p:spPr>
          <a:xfrm>
            <a:off x="5989320" y="4069080"/>
            <a:ext cx="5760720" cy="713232"/>
          </a:xfrm>
          <a:prstGeom prst="rect">
            <a:avLst/>
          </a:prstGeom>
          <a:solidFill>
            <a:srgbClr val="20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4114800"/>
            <a:ext cx="5394960" cy="274320"/>
          </a:xfrm>
          <a:prstGeom prst="rect">
            <a:avLst/>
          </a:prstGeom>
          <a:noFill/>
        </p:spPr>
        <p:txBody>
          <a:bodyPr wrap="square">
            <a:spAutoFit/>
          </a:bodyPr>
          <a:lstStyle/>
          <a:p>
            <a:pPr algn="l"/>
            <a:r>
              <a:rPr sz="1100" b="1">
                <a:solidFill>
                  <a:srgbClr val="FF4444"/>
                </a:solidFill>
                <a:latin typeface="Arial Black"/>
              </a:rPr>
              <a:t>X  Matthieu Udol</a:t>
            </a:r>
          </a:p>
        </p:txBody>
      </p:sp>
      <p:sp>
        <p:nvSpPr>
          <p:cNvPr id="20" name="TextBox 19"/>
          <p:cNvSpPr txBox="1"/>
          <p:nvPr/>
        </p:nvSpPr>
        <p:spPr>
          <a:xfrm>
            <a:off x="6126480" y="4416552"/>
            <a:ext cx="5394960" cy="329184"/>
          </a:xfrm>
          <a:prstGeom prst="rect">
            <a:avLst/>
          </a:prstGeom>
          <a:noFill/>
        </p:spPr>
        <p:txBody>
          <a:bodyPr wrap="square">
            <a:spAutoFit/>
          </a:bodyPr>
          <a:lstStyle/>
          <a:p>
            <a:pPr algn="l"/>
            <a:r>
              <a:rPr sz="900" b="0">
                <a:solidFill>
                  <a:srgbClr val="888888"/>
                </a:solidFill>
                <a:latin typeface="Arial"/>
              </a:rPr>
              <a:t>Poste différent — Piston gauche RC Lens, non milieu axial.</a:t>
            </a:r>
          </a:p>
        </p:txBody>
      </p:sp>
      <p:sp>
        <p:nvSpPr>
          <p:cNvPr id="21" name="Rectangle 20"/>
          <p:cNvSpPr/>
          <p:nvPr/>
        </p:nvSpPr>
        <p:spPr>
          <a:xfrm>
            <a:off x="5989320" y="4892040"/>
            <a:ext cx="5760720" cy="713232"/>
          </a:xfrm>
          <a:prstGeom prst="rect">
            <a:avLst/>
          </a:prstGeom>
          <a:solidFill>
            <a:srgbClr val="20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4937759"/>
            <a:ext cx="5394960" cy="274320"/>
          </a:xfrm>
          <a:prstGeom prst="rect">
            <a:avLst/>
          </a:prstGeom>
          <a:noFill/>
        </p:spPr>
        <p:txBody>
          <a:bodyPr wrap="square">
            <a:spAutoFit/>
          </a:bodyPr>
          <a:lstStyle/>
          <a:p>
            <a:pPr algn="l"/>
            <a:r>
              <a:rPr sz="1100" b="1">
                <a:solidFill>
                  <a:srgbClr val="FF4444"/>
                </a:solidFill>
                <a:latin typeface="Arial Black"/>
              </a:rPr>
              <a:t>X  Marc Bernal</a:t>
            </a:r>
          </a:p>
        </p:txBody>
      </p:sp>
      <p:sp>
        <p:nvSpPr>
          <p:cNvPr id="23" name="TextBox 22"/>
          <p:cNvSpPr txBox="1"/>
          <p:nvPr/>
        </p:nvSpPr>
        <p:spPr>
          <a:xfrm>
            <a:off x="6126480" y="5239512"/>
            <a:ext cx="5394960" cy="329184"/>
          </a:xfrm>
          <a:prstGeom prst="rect">
            <a:avLst/>
          </a:prstGeom>
          <a:noFill/>
        </p:spPr>
        <p:txBody>
          <a:bodyPr wrap="square">
            <a:spAutoFit/>
          </a:bodyPr>
          <a:lstStyle/>
          <a:p>
            <a:pPr algn="l"/>
            <a:r>
              <a:rPr sz="900" b="0">
                <a:solidFill>
                  <a:srgbClr val="888888"/>
                </a:solidFill>
                <a:latin typeface="Arial"/>
              </a:rPr>
              <a:t>Intransférable — Pur La Masia.</a:t>
            </a:r>
          </a:p>
        </p:txBody>
      </p:sp>
      <p:sp>
        <p:nvSpPr>
          <p:cNvPr id="24" name="Rectangle 23"/>
          <p:cNvSpPr/>
          <p:nvPr/>
        </p:nvSpPr>
        <p:spPr>
          <a:xfrm>
            <a:off x="5989320" y="5715000"/>
            <a:ext cx="5760720" cy="713232"/>
          </a:xfrm>
          <a:prstGeom prst="rect">
            <a:avLst/>
          </a:prstGeom>
          <a:solidFill>
            <a:srgbClr val="20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0" y="5760720"/>
            <a:ext cx="5394960" cy="274320"/>
          </a:xfrm>
          <a:prstGeom prst="rect">
            <a:avLst/>
          </a:prstGeom>
          <a:noFill/>
        </p:spPr>
        <p:txBody>
          <a:bodyPr wrap="square">
            <a:spAutoFit/>
          </a:bodyPr>
          <a:lstStyle/>
          <a:p>
            <a:pPr algn="l"/>
            <a:r>
              <a:rPr sz="1100" b="1">
                <a:solidFill>
                  <a:srgbClr val="FF4444"/>
                </a:solidFill>
                <a:latin typeface="Arial Black"/>
              </a:rPr>
              <a:t>X  Pape Diop</a:t>
            </a:r>
          </a:p>
        </p:txBody>
      </p:sp>
      <p:sp>
        <p:nvSpPr>
          <p:cNvPr id="26" name="TextBox 25"/>
          <p:cNvSpPr txBox="1"/>
          <p:nvPr/>
        </p:nvSpPr>
        <p:spPr>
          <a:xfrm>
            <a:off x="6126480" y="6062472"/>
            <a:ext cx="5394960" cy="329184"/>
          </a:xfrm>
          <a:prstGeom prst="rect">
            <a:avLst/>
          </a:prstGeom>
          <a:noFill/>
        </p:spPr>
        <p:txBody>
          <a:bodyPr wrap="square">
            <a:spAutoFit/>
          </a:bodyPr>
          <a:lstStyle/>
          <a:p>
            <a:pPr algn="l"/>
            <a:r>
              <a:rPr sz="900" b="0">
                <a:solidFill>
                  <a:srgbClr val="888888"/>
                </a:solidFill>
                <a:latin typeface="Arial"/>
              </a:rPr>
              <a:t>Instabilité — Prêts cassés. Sans statut titulaire.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457200"/>
          </a:xfrm>
          <a:prstGeom prst="rect">
            <a:avLst/>
          </a:prstGeom>
          <a:noFill/>
        </p:spPr>
        <p:txBody>
          <a:bodyPr wrap="square">
            <a:spAutoFit/>
          </a:bodyPr>
          <a:lstStyle/>
          <a:p>
            <a:pPr algn="l"/>
            <a:r>
              <a:rPr sz="2000" b="1">
                <a:solidFill>
                  <a:srgbClr val="F2F2F2"/>
                </a:solidFill>
                <a:latin typeface="Arial Black"/>
              </a:rPr>
              <a:t>05 — KÉVIN DANOIS — RÉÉVALUATION CRITIQUE</a:t>
            </a:r>
          </a:p>
        </p:txBody>
      </p:sp>
      <p:sp>
        <p:nvSpPr>
          <p:cNvPr id="4" name="TextBox 3"/>
          <p:cNvSpPr txBox="1"/>
          <p:nvPr/>
        </p:nvSpPr>
        <p:spPr>
          <a:xfrm>
            <a:off x="365760" y="749808"/>
            <a:ext cx="10972800" cy="320040"/>
          </a:xfrm>
          <a:prstGeom prst="rect">
            <a:avLst/>
          </a:prstGeom>
          <a:noFill/>
        </p:spPr>
        <p:txBody>
          <a:bodyPr wrap="square">
            <a:spAutoFit/>
          </a:bodyPr>
          <a:lstStyle/>
          <a:p>
            <a:pPr algn="l"/>
            <a:r>
              <a:rPr sz="1000" b="0">
                <a:solidFill>
                  <a:srgbClr val="888888"/>
                </a:solidFill>
                <a:latin typeface="Arial"/>
              </a:rPr>
              <a:t>Rang algorithmique : #52 (score 61.6)  →  Rang post-analyse humaine : #3 Candidat Ligue 1</a:t>
            </a:r>
          </a:p>
        </p:txBody>
      </p:sp>
      <p:sp>
        <p:nvSpPr>
          <p:cNvPr id="5" name="Rectangle 4"/>
          <p:cNvSpPr/>
          <p:nvPr/>
        </p:nvSpPr>
        <p:spPr>
          <a:xfrm>
            <a:off x="274320" y="1005840"/>
            <a:ext cx="5486400" cy="20116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05840"/>
            <a:ext cx="5486400" cy="640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97280"/>
            <a:ext cx="5212080" cy="320040"/>
          </a:xfrm>
          <a:prstGeom prst="rect">
            <a:avLst/>
          </a:prstGeom>
          <a:noFill/>
        </p:spPr>
        <p:txBody>
          <a:bodyPr wrap="square">
            <a:spAutoFit/>
          </a:bodyPr>
          <a:lstStyle/>
          <a:p>
            <a:pPr algn="l"/>
            <a:r>
              <a:rPr sz="1200" b="1">
                <a:solidFill>
                  <a:srgbClr val="00A8E8"/>
                </a:solidFill>
                <a:latin typeface="Arial Black"/>
              </a:rPr>
              <a:t>POURQUOI LE SCORE EST SOUS-ESTIMÉ</a:t>
            </a:r>
          </a:p>
        </p:txBody>
      </p:sp>
      <p:sp>
        <p:nvSpPr>
          <p:cNvPr id="8" name="TextBox 7"/>
          <p:cNvSpPr txBox="1"/>
          <p:nvPr/>
        </p:nvSpPr>
        <p:spPr>
          <a:xfrm>
            <a:off x="457200" y="1481328"/>
            <a:ext cx="5212080" cy="868680"/>
          </a:xfrm>
          <a:prstGeom prst="rect">
            <a:avLst/>
          </a:prstGeom>
          <a:noFill/>
        </p:spPr>
        <p:txBody>
          <a:bodyPr wrap="square">
            <a:spAutoFit/>
          </a:bodyPr>
          <a:lstStyle/>
          <a:p>
            <a:pPr algn="l"/>
            <a:r>
              <a:rPr sz="1000" b="0">
                <a:solidFill>
                  <a:srgbClr val="F2F2F2"/>
                </a:solidFill>
                <a:latin typeface="Arial"/>
              </a:rPr>
              <a:t>Danois joue dans un contexte de lutte pour le maintien avec Auxerre. La qualité des passes destinataires, la pression adverse constante et le système défensif contraignant déprime mécaniquement ses stats créatives (xA, big chances). Dans un meilleur environnement (Lens, pressing collectif de Sage), ses 1.27 dribbles/90 (top 15%) et 1.22 interceptions/90 prendraient tout leur sens.</a:t>
            </a:r>
          </a:p>
        </p:txBody>
      </p:sp>
      <p:sp>
        <p:nvSpPr>
          <p:cNvPr id="9" name="Rectangle 8"/>
          <p:cNvSpPr/>
          <p:nvPr/>
        </p:nvSpPr>
        <p:spPr>
          <a:xfrm>
            <a:off x="5943600" y="1005840"/>
            <a:ext cx="5943600" cy="20116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0" y="1005840"/>
            <a:ext cx="5943600" cy="6400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097280"/>
            <a:ext cx="5577840" cy="320040"/>
          </a:xfrm>
          <a:prstGeom prst="rect">
            <a:avLst/>
          </a:prstGeom>
          <a:noFill/>
        </p:spPr>
        <p:txBody>
          <a:bodyPr wrap="square">
            <a:spAutoFit/>
          </a:bodyPr>
          <a:lstStyle/>
          <a:p>
            <a:pPr algn="l"/>
            <a:r>
              <a:rPr sz="1200" b="1">
                <a:solidFill>
                  <a:srgbClr val="FF9800"/>
                </a:solidFill>
                <a:latin typeface="Arial Black"/>
              </a:rPr>
              <a:t>RED FLAG IDENTIFIÉ</a:t>
            </a:r>
          </a:p>
        </p:txBody>
      </p:sp>
      <p:sp>
        <p:nvSpPr>
          <p:cNvPr id="12" name="TextBox 11"/>
          <p:cNvSpPr txBox="1"/>
          <p:nvPr/>
        </p:nvSpPr>
        <p:spPr>
          <a:xfrm>
            <a:off x="6126480" y="1481328"/>
            <a:ext cx="5577840" cy="868680"/>
          </a:xfrm>
          <a:prstGeom prst="rect">
            <a:avLst/>
          </a:prstGeom>
          <a:noFill/>
        </p:spPr>
        <p:txBody>
          <a:bodyPr wrap="square">
            <a:spAutoFit/>
          </a:bodyPr>
          <a:lstStyle/>
          <a:p>
            <a:pPr algn="l"/>
            <a:r>
              <a:rPr sz="1000" b="0">
                <a:solidFill>
                  <a:srgbClr val="F2F2F2"/>
                </a:solidFill>
                <a:latin typeface="Arial"/>
              </a:rPr>
              <a:t>21 ans avec Auxerre = manque de vice et d'expérience pour jouer l'Europe la saison prochaine. Solution : signer pour construire sur 2 ans, pas pour impact immédiat en Coupe d'Europe. Si Lens joue l'Europe, Danois = plan B, Longstaff = plan A.</a:t>
            </a:r>
          </a:p>
        </p:txBody>
      </p:sp>
      <p:pic>
        <p:nvPicPr>
          <p:cNvPr id="13" name="Picture 12" descr="v6_danois_deep.png"/>
          <p:cNvPicPr>
            <a:picLocks noChangeAspect="1"/>
          </p:cNvPicPr>
          <p:nvPr/>
        </p:nvPicPr>
        <p:blipFill>
          <a:blip r:embed="rId2"/>
          <a:stretch>
            <a:fillRect/>
          </a:stretch>
        </p:blipFill>
        <p:spPr>
          <a:xfrm>
            <a:off x="274320" y="3108960"/>
            <a:ext cx="11612880" cy="35204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457200"/>
          </a:xfrm>
          <a:prstGeom prst="rect">
            <a:avLst/>
          </a:prstGeom>
          <a:noFill/>
        </p:spPr>
        <p:txBody>
          <a:bodyPr wrap="square">
            <a:spAutoFit/>
          </a:bodyPr>
          <a:lstStyle/>
          <a:p>
            <a:pPr algn="l"/>
            <a:r>
              <a:rPr sz="2000" b="1">
                <a:solidFill>
                  <a:srgbClr val="F2F2F2"/>
                </a:solidFill>
                <a:latin typeface="Arial Black"/>
              </a:rPr>
              <a:t>06 — SHORTLIST FINALE BUDGET | 6 CANDIDATS RETENUS</a:t>
            </a:r>
          </a:p>
        </p:txBody>
      </p:sp>
      <p:sp>
        <p:nvSpPr>
          <p:cNvPr id="4" name="Rectangle 3"/>
          <p:cNvSpPr/>
          <p:nvPr/>
        </p:nvSpPr>
        <p:spPr>
          <a:xfrm>
            <a:off x="274320" y="822960"/>
            <a:ext cx="11430000" cy="87782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822960"/>
            <a:ext cx="73152" cy="87782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86968"/>
            <a:ext cx="640080" cy="713232"/>
          </a:xfrm>
          <a:prstGeom prst="rect">
            <a:avLst/>
          </a:prstGeom>
          <a:noFill/>
        </p:spPr>
        <p:txBody>
          <a:bodyPr wrap="square">
            <a:spAutoFit/>
          </a:bodyPr>
          <a:lstStyle/>
          <a:p>
            <a:pPr algn="ctr"/>
            <a:r>
              <a:rPr sz="3800" b="1">
                <a:solidFill>
                  <a:srgbClr val="F5A623"/>
                </a:solidFill>
                <a:latin typeface="Arial Black"/>
              </a:rPr>
              <a:t>1</a:t>
            </a:r>
          </a:p>
        </p:txBody>
      </p:sp>
      <p:sp>
        <p:nvSpPr>
          <p:cNvPr id="7" name="TextBox 6"/>
          <p:cNvSpPr txBox="1"/>
          <p:nvPr/>
        </p:nvSpPr>
        <p:spPr>
          <a:xfrm>
            <a:off x="1261872" y="877824"/>
            <a:ext cx="2926080" cy="347472"/>
          </a:xfrm>
          <a:prstGeom prst="rect">
            <a:avLst/>
          </a:prstGeom>
          <a:noFill/>
        </p:spPr>
        <p:txBody>
          <a:bodyPr wrap="square">
            <a:spAutoFit/>
          </a:bodyPr>
          <a:lstStyle/>
          <a:p>
            <a:pPr algn="l"/>
            <a:r>
              <a:rPr sz="1700" b="1">
                <a:solidFill>
                  <a:srgbClr val="F2F2F2"/>
                </a:solidFill>
                <a:latin typeface="Arial Black"/>
              </a:rPr>
              <a:t>Sean Longstaff</a:t>
            </a:r>
          </a:p>
        </p:txBody>
      </p:sp>
      <p:sp>
        <p:nvSpPr>
          <p:cNvPr id="8" name="TextBox 7"/>
          <p:cNvSpPr txBox="1"/>
          <p:nvPr/>
        </p:nvSpPr>
        <p:spPr>
          <a:xfrm>
            <a:off x="1261872" y="1252728"/>
            <a:ext cx="2926080" cy="246888"/>
          </a:xfrm>
          <a:prstGeom prst="rect">
            <a:avLst/>
          </a:prstGeom>
          <a:noFill/>
        </p:spPr>
        <p:txBody>
          <a:bodyPr wrap="square">
            <a:spAutoFit/>
          </a:bodyPr>
          <a:lstStyle/>
          <a:p>
            <a:pPr algn="l"/>
            <a:r>
              <a:rPr sz="900" b="0">
                <a:solidFill>
                  <a:srgbClr val="888888"/>
                </a:solidFill>
                <a:latin typeface="Arial"/>
              </a:rPr>
              <a:t>28 | GBR | Box-to-Box Équilibré</a:t>
            </a:r>
          </a:p>
        </p:txBody>
      </p:sp>
      <p:sp>
        <p:nvSpPr>
          <p:cNvPr id="9" name="TextBox 8"/>
          <p:cNvSpPr txBox="1"/>
          <p:nvPr/>
        </p:nvSpPr>
        <p:spPr>
          <a:xfrm>
            <a:off x="4251960" y="1005840"/>
            <a:ext cx="5212080" cy="512064"/>
          </a:xfrm>
          <a:prstGeom prst="rect">
            <a:avLst/>
          </a:prstGeom>
          <a:noFill/>
        </p:spPr>
        <p:txBody>
          <a:bodyPr wrap="square">
            <a:spAutoFit/>
          </a:bodyPr>
          <a:lstStyle/>
          <a:p>
            <a:pPr algn="l"/>
            <a:r>
              <a:rPr sz="950" b="0">
                <a:solidFill>
                  <a:srgbClr val="888888"/>
                </a:solidFill>
                <a:latin typeface="Arial"/>
              </a:rPr>
              <a:t>3.48 tacles/90 | 2.07 passes clés/90 | Expérience PL | 0 red flag</a:t>
            </a:r>
          </a:p>
        </p:txBody>
      </p:sp>
      <p:sp>
        <p:nvSpPr>
          <p:cNvPr id="10" name="Rectangle 9"/>
          <p:cNvSpPr/>
          <p:nvPr/>
        </p:nvSpPr>
        <p:spPr>
          <a:xfrm>
            <a:off x="9555480" y="886968"/>
            <a:ext cx="1170432" cy="74980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896112"/>
            <a:ext cx="1078992" cy="402336"/>
          </a:xfrm>
          <a:prstGeom prst="rect">
            <a:avLst/>
          </a:prstGeom>
          <a:noFill/>
        </p:spPr>
        <p:txBody>
          <a:bodyPr wrap="square">
            <a:spAutoFit/>
          </a:bodyPr>
          <a:lstStyle/>
          <a:p>
            <a:pPr algn="ctr"/>
            <a:r>
              <a:rPr sz="2200" b="1">
                <a:solidFill>
                  <a:srgbClr val="F5A623"/>
                </a:solidFill>
                <a:latin typeface="Arial Black"/>
              </a:rPr>
              <a:t>81.9</a:t>
            </a:r>
          </a:p>
        </p:txBody>
      </p:sp>
      <p:sp>
        <p:nvSpPr>
          <p:cNvPr id="12" name="TextBox 11"/>
          <p:cNvSpPr txBox="1"/>
          <p:nvPr/>
        </p:nvSpPr>
        <p:spPr>
          <a:xfrm>
            <a:off x="9601200" y="1316736"/>
            <a:ext cx="1078992" cy="237744"/>
          </a:xfrm>
          <a:prstGeom prst="rect">
            <a:avLst/>
          </a:prstGeom>
          <a:noFill/>
        </p:spPr>
        <p:txBody>
          <a:bodyPr wrap="square">
            <a:spAutoFit/>
          </a:bodyPr>
          <a:lstStyle/>
          <a:p>
            <a:pPr algn="ctr"/>
            <a:r>
              <a:rPr sz="800" b="0">
                <a:solidFill>
                  <a:srgbClr val="F5A623"/>
                </a:solidFill>
                <a:latin typeface="Arial"/>
              </a:rPr>
              <a:t>~8M€</a:t>
            </a:r>
          </a:p>
        </p:txBody>
      </p:sp>
      <p:sp>
        <p:nvSpPr>
          <p:cNvPr id="13" name="TextBox 12"/>
          <p:cNvSpPr txBox="1"/>
          <p:nvPr/>
        </p:nvSpPr>
        <p:spPr>
          <a:xfrm>
            <a:off x="4251960" y="859536"/>
            <a:ext cx="5212080" cy="237744"/>
          </a:xfrm>
          <a:prstGeom prst="rect">
            <a:avLst/>
          </a:prstGeom>
          <a:noFill/>
        </p:spPr>
        <p:txBody>
          <a:bodyPr wrap="square">
            <a:spAutoFit/>
          </a:bodyPr>
          <a:lstStyle/>
          <a:p>
            <a:pPr algn="l"/>
            <a:r>
              <a:rPr sz="900" b="1">
                <a:solidFill>
                  <a:srgbClr val="F5A623"/>
                </a:solidFill>
                <a:latin typeface="Arial Black"/>
              </a:rPr>
              <a:t>  Priorité Absolue</a:t>
            </a:r>
          </a:p>
        </p:txBody>
      </p:sp>
      <p:sp>
        <p:nvSpPr>
          <p:cNvPr id="14" name="Rectangle 13"/>
          <p:cNvSpPr/>
          <p:nvPr/>
        </p:nvSpPr>
        <p:spPr>
          <a:xfrm>
            <a:off x="274320" y="1810512"/>
            <a:ext cx="11430000" cy="87782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810512"/>
            <a:ext cx="73152" cy="87782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874519"/>
            <a:ext cx="640080" cy="713232"/>
          </a:xfrm>
          <a:prstGeom prst="rect">
            <a:avLst/>
          </a:prstGeom>
          <a:noFill/>
        </p:spPr>
        <p:txBody>
          <a:bodyPr wrap="square">
            <a:spAutoFit/>
          </a:bodyPr>
          <a:lstStyle/>
          <a:p>
            <a:pPr algn="ctr"/>
            <a:r>
              <a:rPr sz="3800" b="1">
                <a:solidFill>
                  <a:srgbClr val="4CAF50"/>
                </a:solidFill>
                <a:latin typeface="Arial Black"/>
              </a:rPr>
              <a:t>2</a:t>
            </a:r>
          </a:p>
        </p:txBody>
      </p:sp>
      <p:sp>
        <p:nvSpPr>
          <p:cNvPr id="17" name="TextBox 16"/>
          <p:cNvSpPr txBox="1"/>
          <p:nvPr/>
        </p:nvSpPr>
        <p:spPr>
          <a:xfrm>
            <a:off x="1261872" y="1865376"/>
            <a:ext cx="2926080" cy="347472"/>
          </a:xfrm>
          <a:prstGeom prst="rect">
            <a:avLst/>
          </a:prstGeom>
          <a:noFill/>
        </p:spPr>
        <p:txBody>
          <a:bodyPr wrap="square">
            <a:spAutoFit/>
          </a:bodyPr>
          <a:lstStyle/>
          <a:p>
            <a:pPr algn="l"/>
            <a:r>
              <a:rPr sz="1700" b="1">
                <a:solidFill>
                  <a:srgbClr val="F2F2F2"/>
                </a:solidFill>
                <a:latin typeface="Arial Black"/>
              </a:rPr>
              <a:t>Gvidas Gineitis</a:t>
            </a:r>
          </a:p>
        </p:txBody>
      </p:sp>
      <p:sp>
        <p:nvSpPr>
          <p:cNvPr id="18" name="TextBox 17"/>
          <p:cNvSpPr txBox="1"/>
          <p:nvPr/>
        </p:nvSpPr>
        <p:spPr>
          <a:xfrm>
            <a:off x="1261872" y="2240280"/>
            <a:ext cx="2926080" cy="246888"/>
          </a:xfrm>
          <a:prstGeom prst="rect">
            <a:avLst/>
          </a:prstGeom>
          <a:noFill/>
        </p:spPr>
        <p:txBody>
          <a:bodyPr wrap="square">
            <a:spAutoFit/>
          </a:bodyPr>
          <a:lstStyle/>
          <a:p>
            <a:pPr algn="l"/>
            <a:r>
              <a:rPr sz="900" b="0">
                <a:solidFill>
                  <a:srgbClr val="888888"/>
                </a:solidFill>
                <a:latin typeface="Arial"/>
              </a:rPr>
              <a:t>21 | LTU | Pépite Moneyball</a:t>
            </a:r>
          </a:p>
        </p:txBody>
      </p:sp>
      <p:sp>
        <p:nvSpPr>
          <p:cNvPr id="19" name="TextBox 18"/>
          <p:cNvSpPr txBox="1"/>
          <p:nvPr/>
        </p:nvSpPr>
        <p:spPr>
          <a:xfrm>
            <a:off x="4251960" y="1993392"/>
            <a:ext cx="5212080" cy="512064"/>
          </a:xfrm>
          <a:prstGeom prst="rect">
            <a:avLst/>
          </a:prstGeom>
          <a:noFill/>
        </p:spPr>
        <p:txBody>
          <a:bodyPr wrap="square">
            <a:spAutoFit/>
          </a:bodyPr>
          <a:lstStyle/>
          <a:p>
            <a:pPr algn="l"/>
            <a:r>
              <a:rPr sz="950" b="0">
                <a:solidFill>
                  <a:srgbClr val="888888"/>
                </a:solidFill>
                <a:latin typeface="Arial"/>
              </a:rPr>
              <a:t>Profil jeune équilibré | Serie A accessible | Potential long terme</a:t>
            </a:r>
          </a:p>
        </p:txBody>
      </p:sp>
      <p:sp>
        <p:nvSpPr>
          <p:cNvPr id="20" name="Rectangle 19"/>
          <p:cNvSpPr/>
          <p:nvPr/>
        </p:nvSpPr>
        <p:spPr>
          <a:xfrm>
            <a:off x="9555480" y="1874519"/>
            <a:ext cx="1170432" cy="74980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0" y="1883664"/>
            <a:ext cx="1078992" cy="402336"/>
          </a:xfrm>
          <a:prstGeom prst="rect">
            <a:avLst/>
          </a:prstGeom>
          <a:noFill/>
        </p:spPr>
        <p:txBody>
          <a:bodyPr wrap="square">
            <a:spAutoFit/>
          </a:bodyPr>
          <a:lstStyle/>
          <a:p>
            <a:pPr algn="ctr"/>
            <a:r>
              <a:rPr sz="2200" b="1">
                <a:solidFill>
                  <a:srgbClr val="4CAF50"/>
                </a:solidFill>
                <a:latin typeface="Arial Black"/>
              </a:rPr>
              <a:t>76.8</a:t>
            </a:r>
          </a:p>
        </p:txBody>
      </p:sp>
      <p:sp>
        <p:nvSpPr>
          <p:cNvPr id="22" name="TextBox 21"/>
          <p:cNvSpPr txBox="1"/>
          <p:nvPr/>
        </p:nvSpPr>
        <p:spPr>
          <a:xfrm>
            <a:off x="9601200" y="2304288"/>
            <a:ext cx="1078992" cy="237744"/>
          </a:xfrm>
          <a:prstGeom prst="rect">
            <a:avLst/>
          </a:prstGeom>
          <a:noFill/>
        </p:spPr>
        <p:txBody>
          <a:bodyPr wrap="square">
            <a:spAutoFit/>
          </a:bodyPr>
          <a:lstStyle/>
          <a:p>
            <a:pPr algn="ctr"/>
            <a:r>
              <a:rPr sz="800" b="0">
                <a:solidFill>
                  <a:srgbClr val="F5A623"/>
                </a:solidFill>
                <a:latin typeface="Arial"/>
              </a:rPr>
              <a:t>~8M€</a:t>
            </a:r>
          </a:p>
        </p:txBody>
      </p:sp>
      <p:sp>
        <p:nvSpPr>
          <p:cNvPr id="23" name="TextBox 22"/>
          <p:cNvSpPr txBox="1"/>
          <p:nvPr/>
        </p:nvSpPr>
        <p:spPr>
          <a:xfrm>
            <a:off x="4251960" y="1847088"/>
            <a:ext cx="5212080" cy="237744"/>
          </a:xfrm>
          <a:prstGeom prst="rect">
            <a:avLst/>
          </a:prstGeom>
          <a:noFill/>
        </p:spPr>
        <p:txBody>
          <a:bodyPr wrap="square">
            <a:spAutoFit/>
          </a:bodyPr>
          <a:lstStyle/>
          <a:p>
            <a:pPr algn="l"/>
            <a:r>
              <a:rPr sz="900" b="1">
                <a:solidFill>
                  <a:srgbClr val="4CAF50"/>
                </a:solidFill>
                <a:latin typeface="Arial Black"/>
              </a:rPr>
              <a:t>  Développement</a:t>
            </a:r>
          </a:p>
        </p:txBody>
      </p:sp>
      <p:sp>
        <p:nvSpPr>
          <p:cNvPr id="24" name="Rectangle 23"/>
          <p:cNvSpPr/>
          <p:nvPr/>
        </p:nvSpPr>
        <p:spPr>
          <a:xfrm>
            <a:off x="274320" y="2798064"/>
            <a:ext cx="11430000" cy="87782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2798064"/>
            <a:ext cx="73152" cy="877824"/>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862072"/>
            <a:ext cx="640080" cy="713232"/>
          </a:xfrm>
          <a:prstGeom prst="rect">
            <a:avLst/>
          </a:prstGeom>
          <a:noFill/>
        </p:spPr>
        <p:txBody>
          <a:bodyPr wrap="square">
            <a:spAutoFit/>
          </a:bodyPr>
          <a:lstStyle/>
          <a:p>
            <a:pPr algn="ctr"/>
            <a:r>
              <a:rPr sz="3800" b="1">
                <a:solidFill>
                  <a:srgbClr val="00A8E8"/>
                </a:solidFill>
                <a:latin typeface="Arial Black"/>
              </a:rPr>
              <a:t>3</a:t>
            </a:r>
          </a:p>
        </p:txBody>
      </p:sp>
      <p:sp>
        <p:nvSpPr>
          <p:cNvPr id="27" name="TextBox 26"/>
          <p:cNvSpPr txBox="1"/>
          <p:nvPr/>
        </p:nvSpPr>
        <p:spPr>
          <a:xfrm>
            <a:off x="1261872" y="2852928"/>
            <a:ext cx="2926080" cy="347472"/>
          </a:xfrm>
          <a:prstGeom prst="rect">
            <a:avLst/>
          </a:prstGeom>
          <a:noFill/>
        </p:spPr>
        <p:txBody>
          <a:bodyPr wrap="square">
            <a:spAutoFit/>
          </a:bodyPr>
          <a:lstStyle/>
          <a:p>
            <a:pPr algn="l"/>
            <a:r>
              <a:rPr sz="1700" b="1">
                <a:solidFill>
                  <a:srgbClr val="F2F2F2"/>
                </a:solidFill>
                <a:latin typeface="Arial Black"/>
              </a:rPr>
              <a:t>Kévin Danois</a:t>
            </a:r>
          </a:p>
        </p:txBody>
      </p:sp>
      <p:sp>
        <p:nvSpPr>
          <p:cNvPr id="28" name="TextBox 27"/>
          <p:cNvSpPr txBox="1"/>
          <p:nvPr/>
        </p:nvSpPr>
        <p:spPr>
          <a:xfrm>
            <a:off x="1261872" y="3227832"/>
            <a:ext cx="2926080" cy="246888"/>
          </a:xfrm>
          <a:prstGeom prst="rect">
            <a:avLst/>
          </a:prstGeom>
          <a:noFill/>
        </p:spPr>
        <p:txBody>
          <a:bodyPr wrap="square">
            <a:spAutoFit/>
          </a:bodyPr>
          <a:lstStyle/>
          <a:p>
            <a:pPr algn="l"/>
            <a:r>
              <a:rPr sz="900" b="0">
                <a:solidFill>
                  <a:srgbClr val="888888"/>
                </a:solidFill>
                <a:latin typeface="Arial"/>
              </a:rPr>
              <a:t>21 | FRA | Clone L1</a:t>
            </a:r>
          </a:p>
        </p:txBody>
      </p:sp>
      <p:sp>
        <p:nvSpPr>
          <p:cNvPr id="29" name="TextBox 28"/>
          <p:cNvSpPr txBox="1"/>
          <p:nvPr/>
        </p:nvSpPr>
        <p:spPr>
          <a:xfrm>
            <a:off x="4251960" y="2980944"/>
            <a:ext cx="5212080" cy="512064"/>
          </a:xfrm>
          <a:prstGeom prst="rect">
            <a:avLst/>
          </a:prstGeom>
          <a:noFill/>
        </p:spPr>
        <p:txBody>
          <a:bodyPr wrap="square">
            <a:spAutoFit/>
          </a:bodyPr>
          <a:lstStyle/>
          <a:p>
            <a:pPr algn="l"/>
            <a:r>
              <a:rPr sz="950" b="0">
                <a:solidFill>
                  <a:srgbClr val="888888"/>
                </a:solidFill>
                <a:latin typeface="Arial"/>
              </a:rPr>
              <a:t>*Score sous-estimé (contexte Auxerre) | Dribbles top 15%</a:t>
            </a:r>
          </a:p>
        </p:txBody>
      </p:sp>
      <p:sp>
        <p:nvSpPr>
          <p:cNvPr id="30" name="Rectangle 29"/>
          <p:cNvSpPr/>
          <p:nvPr/>
        </p:nvSpPr>
        <p:spPr>
          <a:xfrm>
            <a:off x="9555480" y="2862072"/>
            <a:ext cx="1170432" cy="74980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0" y="2871216"/>
            <a:ext cx="1078992" cy="402336"/>
          </a:xfrm>
          <a:prstGeom prst="rect">
            <a:avLst/>
          </a:prstGeom>
          <a:noFill/>
        </p:spPr>
        <p:txBody>
          <a:bodyPr wrap="square">
            <a:spAutoFit/>
          </a:bodyPr>
          <a:lstStyle/>
          <a:p>
            <a:pPr algn="ctr"/>
            <a:r>
              <a:rPr sz="2200" b="1">
                <a:solidFill>
                  <a:srgbClr val="00A8E8"/>
                </a:solidFill>
                <a:latin typeface="Arial Black"/>
              </a:rPr>
              <a:t>61.6*</a:t>
            </a:r>
          </a:p>
        </p:txBody>
      </p:sp>
      <p:sp>
        <p:nvSpPr>
          <p:cNvPr id="32" name="TextBox 31"/>
          <p:cNvSpPr txBox="1"/>
          <p:nvPr/>
        </p:nvSpPr>
        <p:spPr>
          <a:xfrm>
            <a:off x="9601200" y="3291840"/>
            <a:ext cx="1078992" cy="237744"/>
          </a:xfrm>
          <a:prstGeom prst="rect">
            <a:avLst/>
          </a:prstGeom>
          <a:noFill/>
        </p:spPr>
        <p:txBody>
          <a:bodyPr wrap="square">
            <a:spAutoFit/>
          </a:bodyPr>
          <a:lstStyle/>
          <a:p>
            <a:pPr algn="ctr"/>
            <a:r>
              <a:rPr sz="800" b="0">
                <a:solidFill>
                  <a:srgbClr val="F5A623"/>
                </a:solidFill>
                <a:latin typeface="Arial"/>
              </a:rPr>
              <a:t>~10M€</a:t>
            </a:r>
          </a:p>
        </p:txBody>
      </p:sp>
      <p:sp>
        <p:nvSpPr>
          <p:cNvPr id="33" name="TextBox 32"/>
          <p:cNvSpPr txBox="1"/>
          <p:nvPr/>
        </p:nvSpPr>
        <p:spPr>
          <a:xfrm>
            <a:off x="4251960" y="2834640"/>
            <a:ext cx="5212080" cy="237744"/>
          </a:xfrm>
          <a:prstGeom prst="rect">
            <a:avLst/>
          </a:prstGeom>
          <a:noFill/>
        </p:spPr>
        <p:txBody>
          <a:bodyPr wrap="square">
            <a:spAutoFit/>
          </a:bodyPr>
          <a:lstStyle/>
          <a:p>
            <a:pPr algn="l"/>
            <a:r>
              <a:rPr sz="900" b="1">
                <a:solidFill>
                  <a:srgbClr val="00A8E8"/>
                </a:solidFill>
                <a:latin typeface="Arial Black"/>
              </a:rPr>
              <a:t>  Option L1 Immédiat</a:t>
            </a:r>
          </a:p>
        </p:txBody>
      </p:sp>
      <p:sp>
        <p:nvSpPr>
          <p:cNvPr id="34" name="Rectangle 33"/>
          <p:cNvSpPr/>
          <p:nvPr/>
        </p:nvSpPr>
        <p:spPr>
          <a:xfrm>
            <a:off x="274320" y="3785616"/>
            <a:ext cx="11430000" cy="87782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3785616"/>
            <a:ext cx="73152" cy="87782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849624"/>
            <a:ext cx="640080" cy="713232"/>
          </a:xfrm>
          <a:prstGeom prst="rect">
            <a:avLst/>
          </a:prstGeom>
          <a:noFill/>
        </p:spPr>
        <p:txBody>
          <a:bodyPr wrap="square">
            <a:spAutoFit/>
          </a:bodyPr>
          <a:lstStyle/>
          <a:p>
            <a:pPr algn="ctr"/>
            <a:r>
              <a:rPr sz="3800" b="1">
                <a:solidFill>
                  <a:srgbClr val="FF9800"/>
                </a:solidFill>
                <a:latin typeface="Arial Black"/>
              </a:rPr>
              <a:t>4</a:t>
            </a:r>
          </a:p>
        </p:txBody>
      </p:sp>
      <p:sp>
        <p:nvSpPr>
          <p:cNvPr id="37" name="TextBox 36"/>
          <p:cNvSpPr txBox="1"/>
          <p:nvPr/>
        </p:nvSpPr>
        <p:spPr>
          <a:xfrm>
            <a:off x="1261872" y="3840480"/>
            <a:ext cx="2926080" cy="347472"/>
          </a:xfrm>
          <a:prstGeom prst="rect">
            <a:avLst/>
          </a:prstGeom>
          <a:noFill/>
        </p:spPr>
        <p:txBody>
          <a:bodyPr wrap="square">
            <a:spAutoFit/>
          </a:bodyPr>
          <a:lstStyle/>
          <a:p>
            <a:pPr algn="l"/>
            <a:r>
              <a:rPr sz="1700" b="1">
                <a:solidFill>
                  <a:srgbClr val="F2F2F2"/>
                </a:solidFill>
                <a:latin typeface="Arial Black"/>
              </a:rPr>
              <a:t>Azzedine Ounahi</a:t>
            </a:r>
          </a:p>
        </p:txBody>
      </p:sp>
      <p:sp>
        <p:nvSpPr>
          <p:cNvPr id="38" name="TextBox 37"/>
          <p:cNvSpPr txBox="1"/>
          <p:nvPr/>
        </p:nvSpPr>
        <p:spPr>
          <a:xfrm>
            <a:off x="1261872" y="4215384"/>
            <a:ext cx="2926080" cy="246888"/>
          </a:xfrm>
          <a:prstGeom prst="rect">
            <a:avLst/>
          </a:prstGeom>
          <a:noFill/>
        </p:spPr>
        <p:txBody>
          <a:bodyPr wrap="square">
            <a:spAutoFit/>
          </a:bodyPr>
          <a:lstStyle/>
          <a:p>
            <a:pPr algn="l"/>
            <a:r>
              <a:rPr sz="900" b="0">
                <a:solidFill>
                  <a:srgbClr val="888888"/>
                </a:solidFill>
                <a:latin typeface="Arial"/>
              </a:rPr>
              <a:t>25 | MAR | Créatif</a:t>
            </a:r>
          </a:p>
        </p:txBody>
      </p:sp>
      <p:sp>
        <p:nvSpPr>
          <p:cNvPr id="39" name="TextBox 38"/>
          <p:cNvSpPr txBox="1"/>
          <p:nvPr/>
        </p:nvSpPr>
        <p:spPr>
          <a:xfrm>
            <a:off x="4251960" y="3968496"/>
            <a:ext cx="5212080" cy="512064"/>
          </a:xfrm>
          <a:prstGeom prst="rect">
            <a:avLst/>
          </a:prstGeom>
          <a:noFill/>
        </p:spPr>
        <p:txBody>
          <a:bodyPr wrap="square">
            <a:spAutoFit/>
          </a:bodyPr>
          <a:lstStyle/>
          <a:p>
            <a:pPr algn="l"/>
            <a:r>
              <a:rPr sz="950" b="0">
                <a:solidFill>
                  <a:srgbClr val="888888"/>
                </a:solidFill>
                <a:latin typeface="Arial"/>
              </a:rPr>
              <a:t>3 blessures mollet cette saison | CdM 2022 | Haut potentiel</a:t>
            </a:r>
          </a:p>
        </p:txBody>
      </p:sp>
      <p:sp>
        <p:nvSpPr>
          <p:cNvPr id="40" name="Rectangle 39"/>
          <p:cNvSpPr/>
          <p:nvPr/>
        </p:nvSpPr>
        <p:spPr>
          <a:xfrm>
            <a:off x="9555480" y="3849624"/>
            <a:ext cx="1170432" cy="74980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0" y="3858768"/>
            <a:ext cx="1078992" cy="402336"/>
          </a:xfrm>
          <a:prstGeom prst="rect">
            <a:avLst/>
          </a:prstGeom>
          <a:noFill/>
        </p:spPr>
        <p:txBody>
          <a:bodyPr wrap="square">
            <a:spAutoFit/>
          </a:bodyPr>
          <a:lstStyle/>
          <a:p>
            <a:pPr algn="ctr"/>
            <a:r>
              <a:rPr sz="2200" b="1">
                <a:solidFill>
                  <a:srgbClr val="FF9800"/>
                </a:solidFill>
                <a:latin typeface="Arial Black"/>
              </a:rPr>
              <a:t>65.6</a:t>
            </a:r>
          </a:p>
        </p:txBody>
      </p:sp>
      <p:sp>
        <p:nvSpPr>
          <p:cNvPr id="42" name="TextBox 41"/>
          <p:cNvSpPr txBox="1"/>
          <p:nvPr/>
        </p:nvSpPr>
        <p:spPr>
          <a:xfrm>
            <a:off x="9601200" y="4279392"/>
            <a:ext cx="1078992" cy="237744"/>
          </a:xfrm>
          <a:prstGeom prst="rect">
            <a:avLst/>
          </a:prstGeom>
          <a:noFill/>
        </p:spPr>
        <p:txBody>
          <a:bodyPr wrap="square">
            <a:spAutoFit/>
          </a:bodyPr>
          <a:lstStyle/>
          <a:p>
            <a:pPr algn="ctr"/>
            <a:r>
              <a:rPr sz="800" b="0">
                <a:solidFill>
                  <a:srgbClr val="F5A623"/>
                </a:solidFill>
                <a:latin typeface="Arial"/>
              </a:rPr>
              <a:t>~10M€</a:t>
            </a:r>
          </a:p>
        </p:txBody>
      </p:sp>
      <p:sp>
        <p:nvSpPr>
          <p:cNvPr id="43" name="TextBox 42"/>
          <p:cNvSpPr txBox="1"/>
          <p:nvPr/>
        </p:nvSpPr>
        <p:spPr>
          <a:xfrm>
            <a:off x="4251960" y="3822192"/>
            <a:ext cx="5212080" cy="237744"/>
          </a:xfrm>
          <a:prstGeom prst="rect">
            <a:avLst/>
          </a:prstGeom>
          <a:noFill/>
        </p:spPr>
        <p:txBody>
          <a:bodyPr wrap="square">
            <a:spAutoFit/>
          </a:bodyPr>
          <a:lstStyle/>
          <a:p>
            <a:pPr algn="l"/>
            <a:r>
              <a:rPr sz="900" b="1">
                <a:solidFill>
                  <a:srgbClr val="FF9800"/>
                </a:solidFill>
                <a:latin typeface="Arial Black"/>
              </a:rPr>
              <a:t>  ⚠️ Risque Médical</a:t>
            </a:r>
          </a:p>
        </p:txBody>
      </p:sp>
      <p:sp>
        <p:nvSpPr>
          <p:cNvPr id="44" name="Rectangle 43"/>
          <p:cNvSpPr/>
          <p:nvPr/>
        </p:nvSpPr>
        <p:spPr>
          <a:xfrm>
            <a:off x="274320" y="4773168"/>
            <a:ext cx="11430000" cy="87782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4320" y="4773168"/>
            <a:ext cx="73152" cy="87782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4837176"/>
            <a:ext cx="640080" cy="713232"/>
          </a:xfrm>
          <a:prstGeom prst="rect">
            <a:avLst/>
          </a:prstGeom>
          <a:noFill/>
        </p:spPr>
        <p:txBody>
          <a:bodyPr wrap="square">
            <a:spAutoFit/>
          </a:bodyPr>
          <a:lstStyle/>
          <a:p>
            <a:pPr algn="ctr"/>
            <a:r>
              <a:rPr sz="3800" b="1">
                <a:solidFill>
                  <a:srgbClr val="9C27B0"/>
                </a:solidFill>
                <a:latin typeface="Arial Black"/>
              </a:rPr>
              <a:t>5</a:t>
            </a:r>
          </a:p>
        </p:txBody>
      </p:sp>
      <p:sp>
        <p:nvSpPr>
          <p:cNvPr id="47" name="TextBox 46"/>
          <p:cNvSpPr txBox="1"/>
          <p:nvPr/>
        </p:nvSpPr>
        <p:spPr>
          <a:xfrm>
            <a:off x="1261872" y="4828032"/>
            <a:ext cx="2926080" cy="347472"/>
          </a:xfrm>
          <a:prstGeom prst="rect">
            <a:avLst/>
          </a:prstGeom>
          <a:noFill/>
        </p:spPr>
        <p:txBody>
          <a:bodyPr wrap="square">
            <a:spAutoFit/>
          </a:bodyPr>
          <a:lstStyle/>
          <a:p>
            <a:pPr algn="l"/>
            <a:r>
              <a:rPr sz="1700" b="1">
                <a:solidFill>
                  <a:srgbClr val="F2F2F2"/>
                </a:solidFill>
                <a:latin typeface="Arial Black"/>
              </a:rPr>
              <a:t>Krépin Diatta</a:t>
            </a:r>
          </a:p>
        </p:txBody>
      </p:sp>
      <p:sp>
        <p:nvSpPr>
          <p:cNvPr id="48" name="TextBox 47"/>
          <p:cNvSpPr txBox="1"/>
          <p:nvPr/>
        </p:nvSpPr>
        <p:spPr>
          <a:xfrm>
            <a:off x="1261872" y="5202936"/>
            <a:ext cx="2926080" cy="246888"/>
          </a:xfrm>
          <a:prstGeom prst="rect">
            <a:avLst/>
          </a:prstGeom>
          <a:noFill/>
        </p:spPr>
        <p:txBody>
          <a:bodyPr wrap="square">
            <a:spAutoFit/>
          </a:bodyPr>
          <a:lstStyle/>
          <a:p>
            <a:pPr algn="l"/>
            <a:r>
              <a:rPr sz="900" b="0">
                <a:solidFill>
                  <a:srgbClr val="888888"/>
                </a:solidFill>
                <a:latin typeface="Arial"/>
              </a:rPr>
              <a:t>26 | SEN | Pressing</a:t>
            </a:r>
          </a:p>
        </p:txBody>
      </p:sp>
      <p:sp>
        <p:nvSpPr>
          <p:cNvPr id="49" name="TextBox 48"/>
          <p:cNvSpPr txBox="1"/>
          <p:nvPr/>
        </p:nvSpPr>
        <p:spPr>
          <a:xfrm>
            <a:off x="4251960" y="4956048"/>
            <a:ext cx="5212080" cy="512064"/>
          </a:xfrm>
          <a:prstGeom prst="rect">
            <a:avLst/>
          </a:prstGeom>
          <a:noFill/>
        </p:spPr>
        <p:txBody>
          <a:bodyPr wrap="square">
            <a:spAutoFit/>
          </a:bodyPr>
          <a:lstStyle/>
          <a:p>
            <a:pPr algn="l"/>
            <a:r>
              <a:rPr sz="950" b="0">
                <a:solidFill>
                  <a:srgbClr val="888888"/>
                </a:solidFill>
                <a:latin typeface="Arial"/>
              </a:rPr>
              <a:t>Score pressing 67.6 | L1 intégration immédiate</a:t>
            </a:r>
          </a:p>
        </p:txBody>
      </p:sp>
      <p:sp>
        <p:nvSpPr>
          <p:cNvPr id="50" name="Rectangle 49"/>
          <p:cNvSpPr/>
          <p:nvPr/>
        </p:nvSpPr>
        <p:spPr>
          <a:xfrm>
            <a:off x="9555480" y="4837176"/>
            <a:ext cx="1170432" cy="74980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0" y="4846320"/>
            <a:ext cx="1078992" cy="402336"/>
          </a:xfrm>
          <a:prstGeom prst="rect">
            <a:avLst/>
          </a:prstGeom>
          <a:noFill/>
        </p:spPr>
        <p:txBody>
          <a:bodyPr wrap="square">
            <a:spAutoFit/>
          </a:bodyPr>
          <a:lstStyle/>
          <a:p>
            <a:pPr algn="ctr"/>
            <a:r>
              <a:rPr sz="2200" b="1">
                <a:solidFill>
                  <a:srgbClr val="9C27B0"/>
                </a:solidFill>
                <a:latin typeface="Arial Black"/>
              </a:rPr>
              <a:t>77.4</a:t>
            </a:r>
          </a:p>
        </p:txBody>
      </p:sp>
      <p:sp>
        <p:nvSpPr>
          <p:cNvPr id="52" name="TextBox 51"/>
          <p:cNvSpPr txBox="1"/>
          <p:nvPr/>
        </p:nvSpPr>
        <p:spPr>
          <a:xfrm>
            <a:off x="9601200" y="5266944"/>
            <a:ext cx="1078992" cy="237744"/>
          </a:xfrm>
          <a:prstGeom prst="rect">
            <a:avLst/>
          </a:prstGeom>
          <a:noFill/>
        </p:spPr>
        <p:txBody>
          <a:bodyPr wrap="square">
            <a:spAutoFit/>
          </a:bodyPr>
          <a:lstStyle/>
          <a:p>
            <a:pPr algn="ctr"/>
            <a:r>
              <a:rPr sz="800" b="0">
                <a:solidFill>
                  <a:srgbClr val="F5A623"/>
                </a:solidFill>
                <a:latin typeface="Arial"/>
              </a:rPr>
              <a:t>~12M€</a:t>
            </a:r>
          </a:p>
        </p:txBody>
      </p:sp>
      <p:sp>
        <p:nvSpPr>
          <p:cNvPr id="53" name="TextBox 52"/>
          <p:cNvSpPr txBox="1"/>
          <p:nvPr/>
        </p:nvSpPr>
        <p:spPr>
          <a:xfrm>
            <a:off x="4251960" y="4809744"/>
            <a:ext cx="5212080" cy="237744"/>
          </a:xfrm>
          <a:prstGeom prst="rect">
            <a:avLst/>
          </a:prstGeom>
          <a:noFill/>
        </p:spPr>
        <p:txBody>
          <a:bodyPr wrap="square">
            <a:spAutoFit/>
          </a:bodyPr>
          <a:lstStyle/>
          <a:p>
            <a:pPr algn="l"/>
            <a:r>
              <a:rPr sz="900" b="1">
                <a:solidFill>
                  <a:srgbClr val="9C27B0"/>
                </a:solidFill>
                <a:latin typeface="Arial Black"/>
              </a:rPr>
              <a:t>  Stretch Budget</a:t>
            </a:r>
          </a:p>
        </p:txBody>
      </p:sp>
      <p:sp>
        <p:nvSpPr>
          <p:cNvPr id="54" name="Rectangle 53"/>
          <p:cNvSpPr/>
          <p:nvPr/>
        </p:nvSpPr>
        <p:spPr>
          <a:xfrm>
            <a:off x="274320" y="5760720"/>
            <a:ext cx="11430000" cy="87782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4320" y="5760720"/>
            <a:ext cx="73152" cy="8778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5824728"/>
            <a:ext cx="640080" cy="713232"/>
          </a:xfrm>
          <a:prstGeom prst="rect">
            <a:avLst/>
          </a:prstGeom>
          <a:noFill/>
        </p:spPr>
        <p:txBody>
          <a:bodyPr wrap="square">
            <a:spAutoFit/>
          </a:bodyPr>
          <a:lstStyle/>
          <a:p>
            <a:pPr algn="ctr"/>
            <a:r>
              <a:rPr sz="3800" b="1">
                <a:solidFill>
                  <a:srgbClr val="00BCD4"/>
                </a:solidFill>
                <a:latin typeface="Arial Black"/>
              </a:rPr>
              <a:t>6</a:t>
            </a:r>
          </a:p>
        </p:txBody>
      </p:sp>
      <p:sp>
        <p:nvSpPr>
          <p:cNvPr id="57" name="TextBox 56"/>
          <p:cNvSpPr txBox="1"/>
          <p:nvPr/>
        </p:nvSpPr>
        <p:spPr>
          <a:xfrm>
            <a:off x="1261872" y="5815584"/>
            <a:ext cx="2926080" cy="347472"/>
          </a:xfrm>
          <a:prstGeom prst="rect">
            <a:avLst/>
          </a:prstGeom>
          <a:noFill/>
        </p:spPr>
        <p:txBody>
          <a:bodyPr wrap="square">
            <a:spAutoFit/>
          </a:bodyPr>
          <a:lstStyle/>
          <a:p>
            <a:pPr algn="l"/>
            <a:r>
              <a:rPr sz="1700" b="1">
                <a:solidFill>
                  <a:srgbClr val="F2F2F2"/>
                </a:solidFill>
                <a:latin typeface="Arial Black"/>
              </a:rPr>
              <a:t>M. Sangaré</a:t>
            </a:r>
          </a:p>
        </p:txBody>
      </p:sp>
      <p:sp>
        <p:nvSpPr>
          <p:cNvPr id="58" name="TextBox 57"/>
          <p:cNvSpPr txBox="1"/>
          <p:nvPr/>
        </p:nvSpPr>
        <p:spPr>
          <a:xfrm>
            <a:off x="1261872" y="6190488"/>
            <a:ext cx="2926080" cy="246888"/>
          </a:xfrm>
          <a:prstGeom prst="rect">
            <a:avLst/>
          </a:prstGeom>
          <a:noFill/>
        </p:spPr>
        <p:txBody>
          <a:bodyPr wrap="square">
            <a:spAutoFit/>
          </a:bodyPr>
          <a:lstStyle/>
          <a:p>
            <a:pPr algn="l"/>
            <a:r>
              <a:rPr sz="900" b="0">
                <a:solidFill>
                  <a:srgbClr val="888888"/>
                </a:solidFill>
                <a:latin typeface="Arial"/>
              </a:rPr>
              <a:t>23 | MLI | Interne</a:t>
            </a:r>
          </a:p>
        </p:txBody>
      </p:sp>
      <p:sp>
        <p:nvSpPr>
          <p:cNvPr id="59" name="TextBox 58"/>
          <p:cNvSpPr txBox="1"/>
          <p:nvPr/>
        </p:nvSpPr>
        <p:spPr>
          <a:xfrm>
            <a:off x="4251960" y="5943600"/>
            <a:ext cx="5212080" cy="512064"/>
          </a:xfrm>
          <a:prstGeom prst="rect">
            <a:avLst/>
          </a:prstGeom>
          <a:noFill/>
        </p:spPr>
        <p:txBody>
          <a:bodyPr wrap="square">
            <a:spAutoFit/>
          </a:bodyPr>
          <a:lstStyle/>
          <a:p>
            <a:pPr algn="l"/>
            <a:r>
              <a:rPr sz="950" b="0">
                <a:solidFill>
                  <a:srgbClr val="888888"/>
                </a:solidFill>
                <a:latin typeface="Arial"/>
              </a:rPr>
              <a:t>Déjà au club (8M€) | Pressing dominant | À développer créativement</a:t>
            </a:r>
          </a:p>
        </p:txBody>
      </p:sp>
      <p:sp>
        <p:nvSpPr>
          <p:cNvPr id="60" name="Rectangle 59"/>
          <p:cNvSpPr/>
          <p:nvPr/>
        </p:nvSpPr>
        <p:spPr>
          <a:xfrm>
            <a:off x="9555480" y="5824728"/>
            <a:ext cx="1170432" cy="74980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601200" y="5833872"/>
            <a:ext cx="1078992" cy="402336"/>
          </a:xfrm>
          <a:prstGeom prst="rect">
            <a:avLst/>
          </a:prstGeom>
          <a:noFill/>
        </p:spPr>
        <p:txBody>
          <a:bodyPr wrap="square">
            <a:spAutoFit/>
          </a:bodyPr>
          <a:lstStyle/>
          <a:p>
            <a:pPr algn="ctr"/>
            <a:r>
              <a:rPr sz="2200" b="1">
                <a:solidFill>
                  <a:srgbClr val="00BCD4"/>
                </a:solidFill>
                <a:latin typeface="Arial Black"/>
              </a:rPr>
              <a:t>82.1</a:t>
            </a:r>
          </a:p>
        </p:txBody>
      </p:sp>
      <p:sp>
        <p:nvSpPr>
          <p:cNvPr id="62" name="TextBox 61"/>
          <p:cNvSpPr txBox="1"/>
          <p:nvPr/>
        </p:nvSpPr>
        <p:spPr>
          <a:xfrm>
            <a:off x="9601200" y="6254496"/>
            <a:ext cx="1078992" cy="237744"/>
          </a:xfrm>
          <a:prstGeom prst="rect">
            <a:avLst/>
          </a:prstGeom>
          <a:noFill/>
        </p:spPr>
        <p:txBody>
          <a:bodyPr wrap="square">
            <a:spAutoFit/>
          </a:bodyPr>
          <a:lstStyle/>
          <a:p>
            <a:pPr algn="ctr"/>
            <a:r>
              <a:rPr sz="800" b="0">
                <a:solidFill>
                  <a:srgbClr val="F5A623"/>
                </a:solidFill>
                <a:latin typeface="Arial"/>
              </a:rPr>
              <a:t>0€</a:t>
            </a:r>
          </a:p>
        </p:txBody>
      </p:sp>
      <p:sp>
        <p:nvSpPr>
          <p:cNvPr id="63" name="TextBox 62"/>
          <p:cNvSpPr txBox="1"/>
          <p:nvPr/>
        </p:nvSpPr>
        <p:spPr>
          <a:xfrm>
            <a:off x="4251960" y="5797296"/>
            <a:ext cx="5212080" cy="237744"/>
          </a:xfrm>
          <a:prstGeom prst="rect">
            <a:avLst/>
          </a:prstGeom>
          <a:noFill/>
        </p:spPr>
        <p:txBody>
          <a:bodyPr wrap="square">
            <a:spAutoFit/>
          </a:bodyPr>
          <a:lstStyle/>
          <a:p>
            <a:pPr algn="l"/>
            <a:r>
              <a:rPr sz="900" b="1">
                <a:solidFill>
                  <a:srgbClr val="00BCD4"/>
                </a:solidFill>
                <a:latin typeface="Arial Black"/>
              </a:rPr>
              <a:t>  Option Interne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9144000" cy="457200"/>
          </a:xfrm>
          <a:prstGeom prst="rect">
            <a:avLst/>
          </a:prstGeom>
          <a:noFill/>
        </p:spPr>
        <p:txBody>
          <a:bodyPr wrap="square">
            <a:spAutoFit/>
          </a:bodyPr>
          <a:lstStyle/>
          <a:p>
            <a:pPr algn="l"/>
            <a:r>
              <a:rPr sz="2000" b="1">
                <a:solidFill>
                  <a:srgbClr val="F2F2F2"/>
                </a:solidFill>
                <a:latin typeface="Arial Black"/>
              </a:rPr>
              <a:t>07 — RADARS &amp; HEATMAP BUDGET</a:t>
            </a:r>
          </a:p>
        </p:txBody>
      </p:sp>
      <p:pic>
        <p:nvPicPr>
          <p:cNvPr id="4" name="Picture 3" descr="v6_radars_budget.png"/>
          <p:cNvPicPr>
            <a:picLocks noChangeAspect="1"/>
          </p:cNvPicPr>
          <p:nvPr/>
        </p:nvPicPr>
        <p:blipFill>
          <a:blip r:embed="rId2"/>
          <a:stretch>
            <a:fillRect/>
          </a:stretch>
        </p:blipFill>
        <p:spPr>
          <a:xfrm>
            <a:off x="274320" y="731520"/>
            <a:ext cx="11612880" cy="2971800"/>
          </a:xfrm>
          <a:prstGeom prst="rect">
            <a:avLst/>
          </a:prstGeom>
        </p:spPr>
      </p:pic>
      <p:pic>
        <p:nvPicPr>
          <p:cNvPr id="5" name="Picture 4" descr="v6_heatmap_budget.png"/>
          <p:cNvPicPr>
            <a:picLocks noChangeAspect="1"/>
          </p:cNvPicPr>
          <p:nvPr/>
        </p:nvPicPr>
        <p:blipFill>
          <a:blip r:embed="rId3"/>
          <a:stretch>
            <a:fillRect/>
          </a:stretch>
        </p:blipFill>
        <p:spPr>
          <a:xfrm>
            <a:off x="274320" y="3794760"/>
            <a:ext cx="11612880" cy="28346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7315200" cy="457200"/>
          </a:xfrm>
          <a:prstGeom prst="rect">
            <a:avLst/>
          </a:prstGeom>
          <a:noFill/>
        </p:spPr>
        <p:txBody>
          <a:bodyPr wrap="square">
            <a:spAutoFit/>
          </a:bodyPr>
          <a:lstStyle/>
          <a:p>
            <a:pPr algn="l"/>
            <a:r>
              <a:rPr sz="2000" b="1">
                <a:solidFill>
                  <a:srgbClr val="F2F2F2"/>
                </a:solidFill>
                <a:latin typeface="Arial Black"/>
              </a:rPr>
              <a:t>08 — RECOMMANDATION FINALE</a:t>
            </a:r>
          </a:p>
        </p:txBody>
      </p:sp>
      <p:sp>
        <p:nvSpPr>
          <p:cNvPr id="4" name="Rectangle 3"/>
          <p:cNvSpPr/>
          <p:nvPr/>
        </p:nvSpPr>
        <p:spPr>
          <a:xfrm>
            <a:off x="365760" y="777240"/>
            <a:ext cx="11430000" cy="1691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777240"/>
            <a:ext cx="109728" cy="1691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896112"/>
            <a:ext cx="777240" cy="502920"/>
          </a:xfrm>
          <a:prstGeom prst="rect">
            <a:avLst/>
          </a:prstGeom>
          <a:noFill/>
        </p:spPr>
        <p:txBody>
          <a:bodyPr wrap="square">
            <a:spAutoFit/>
          </a:bodyPr>
          <a:lstStyle/>
          <a:p>
            <a:pPr algn="ctr"/>
            <a:r>
              <a:rPr sz="2200" b="1">
                <a:solidFill>
                  <a:srgbClr val="F5A623"/>
                </a:solidFill>
                <a:latin typeface="Arial Black"/>
              </a:rPr>
              <a:t>#1</a:t>
            </a:r>
          </a:p>
        </p:txBody>
      </p:sp>
      <p:sp>
        <p:nvSpPr>
          <p:cNvPr id="7" name="TextBox 6"/>
          <p:cNvSpPr txBox="1"/>
          <p:nvPr/>
        </p:nvSpPr>
        <p:spPr>
          <a:xfrm>
            <a:off x="1600200" y="804672"/>
            <a:ext cx="7498079" cy="530352"/>
          </a:xfrm>
          <a:prstGeom prst="rect">
            <a:avLst/>
          </a:prstGeom>
          <a:noFill/>
        </p:spPr>
        <p:txBody>
          <a:bodyPr wrap="square">
            <a:spAutoFit/>
          </a:bodyPr>
          <a:lstStyle/>
          <a:p>
            <a:pPr algn="l"/>
            <a:r>
              <a:rPr sz="2800" b="1">
                <a:solidFill>
                  <a:srgbClr val="F2F2F2"/>
                </a:solidFill>
                <a:latin typeface="Arial Black"/>
              </a:rPr>
              <a:t>SEAN LONGSTAFF</a:t>
            </a:r>
          </a:p>
        </p:txBody>
      </p:sp>
      <p:sp>
        <p:nvSpPr>
          <p:cNvPr id="8" name="TextBox 7"/>
          <p:cNvSpPr txBox="1"/>
          <p:nvPr/>
        </p:nvSpPr>
        <p:spPr>
          <a:xfrm>
            <a:off x="1600200" y="1335024"/>
            <a:ext cx="8229600" cy="292608"/>
          </a:xfrm>
          <a:prstGeom prst="rect">
            <a:avLst/>
          </a:prstGeom>
          <a:noFill/>
        </p:spPr>
        <p:txBody>
          <a:bodyPr wrap="square">
            <a:spAutoFit/>
          </a:bodyPr>
          <a:lstStyle/>
          <a:p>
            <a:pPr algn="l"/>
            <a:r>
              <a:rPr sz="1000" b="0">
                <a:solidFill>
                  <a:srgbClr val="888888"/>
                </a:solidFill>
                <a:latin typeface="Arial"/>
              </a:rPr>
              <a:t>Leeds United — PL  |  28 ans  |  ~8M€  |  Score 81.9/100</a:t>
            </a:r>
          </a:p>
        </p:txBody>
      </p:sp>
      <p:sp>
        <p:nvSpPr>
          <p:cNvPr id="9" name="TextBox 8"/>
          <p:cNvSpPr txBox="1"/>
          <p:nvPr/>
        </p:nvSpPr>
        <p:spPr>
          <a:xfrm>
            <a:off x="1600200" y="1664208"/>
            <a:ext cx="8046720" cy="594360"/>
          </a:xfrm>
          <a:prstGeom prst="rect">
            <a:avLst/>
          </a:prstGeom>
          <a:noFill/>
        </p:spPr>
        <p:txBody>
          <a:bodyPr wrap="square">
            <a:spAutoFit/>
          </a:bodyPr>
          <a:lstStyle/>
          <a:p>
            <a:pPr algn="l"/>
            <a:r>
              <a:rPr sz="1100" b="0">
                <a:solidFill>
                  <a:srgbClr val="F2F2F2"/>
                </a:solidFill>
                <a:latin typeface="Arial"/>
              </a:rPr>
              <a:t>Profil hybride le plus complet dans le budget. Leeds en Championship rend ce transfert réaliste à ~8M€. 3.48 tacles/90 + 2.07 passes clés/90 = équilibre pressing-création idéal pour le système de Pierre Sage. Expérience PL pour jouer l'Europe.</a:t>
            </a:r>
          </a:p>
        </p:txBody>
      </p:sp>
      <p:sp>
        <p:nvSpPr>
          <p:cNvPr id="10" name="TextBox 9"/>
          <p:cNvSpPr txBox="1"/>
          <p:nvPr/>
        </p:nvSpPr>
        <p:spPr>
          <a:xfrm>
            <a:off x="10149840" y="841248"/>
            <a:ext cx="1417320" cy="640080"/>
          </a:xfrm>
          <a:prstGeom prst="rect">
            <a:avLst/>
          </a:prstGeom>
          <a:noFill/>
        </p:spPr>
        <p:txBody>
          <a:bodyPr wrap="square">
            <a:spAutoFit/>
          </a:bodyPr>
          <a:lstStyle/>
          <a:p>
            <a:pPr algn="ctr"/>
            <a:r>
              <a:rPr sz="3600" b="1">
                <a:solidFill>
                  <a:srgbClr val="F5A623"/>
                </a:solidFill>
                <a:latin typeface="Arial Black"/>
              </a:rPr>
              <a:t>81.9</a:t>
            </a:r>
          </a:p>
        </p:txBody>
      </p:sp>
      <p:sp>
        <p:nvSpPr>
          <p:cNvPr id="11" name="TextBox 10"/>
          <p:cNvSpPr txBox="1"/>
          <p:nvPr/>
        </p:nvSpPr>
        <p:spPr>
          <a:xfrm>
            <a:off x="10149840" y="1481328"/>
            <a:ext cx="1417320" cy="256032"/>
          </a:xfrm>
          <a:prstGeom prst="rect">
            <a:avLst/>
          </a:prstGeom>
          <a:noFill/>
        </p:spPr>
        <p:txBody>
          <a:bodyPr wrap="square">
            <a:spAutoFit/>
          </a:bodyPr>
          <a:lstStyle/>
          <a:p>
            <a:pPr algn="ctr"/>
            <a:r>
              <a:rPr sz="1000" b="0">
                <a:solidFill>
                  <a:srgbClr val="888888"/>
                </a:solidFill>
                <a:latin typeface="Arial"/>
              </a:rPr>
              <a:t>/100</a:t>
            </a:r>
          </a:p>
        </p:txBody>
      </p:sp>
      <p:sp>
        <p:nvSpPr>
          <p:cNvPr id="12" name="Rectangle 11"/>
          <p:cNvSpPr/>
          <p:nvPr/>
        </p:nvSpPr>
        <p:spPr>
          <a:xfrm>
            <a:off x="365760" y="2606040"/>
            <a:ext cx="11430000" cy="98755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606040"/>
            <a:ext cx="109728" cy="987552"/>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679192"/>
            <a:ext cx="9144000" cy="320040"/>
          </a:xfrm>
          <a:prstGeom prst="rect">
            <a:avLst/>
          </a:prstGeom>
          <a:noFill/>
        </p:spPr>
        <p:txBody>
          <a:bodyPr wrap="square">
            <a:spAutoFit/>
          </a:bodyPr>
          <a:lstStyle/>
          <a:p>
            <a:pPr algn="l"/>
            <a:r>
              <a:rPr sz="1100" b="1">
                <a:solidFill>
                  <a:srgbClr val="F2F2F2"/>
                </a:solidFill>
                <a:latin typeface="Arial Black"/>
              </a:rPr>
              <a:t>#3 OPTION LIGUE 1 — Kévin Danois  •  Auxerre  •  21 ans  •  ~10M€  •  Score algorithmique : 61.6* (*sous-estimé)</a:t>
            </a:r>
          </a:p>
        </p:txBody>
      </p:sp>
      <p:sp>
        <p:nvSpPr>
          <p:cNvPr id="15" name="TextBox 14"/>
          <p:cNvSpPr txBox="1"/>
          <p:nvPr/>
        </p:nvSpPr>
        <p:spPr>
          <a:xfrm>
            <a:off x="594360" y="3035808"/>
            <a:ext cx="9601200" cy="384048"/>
          </a:xfrm>
          <a:prstGeom prst="rect">
            <a:avLst/>
          </a:prstGeom>
          <a:noFill/>
        </p:spPr>
        <p:txBody>
          <a:bodyPr wrap="square">
            <a:spAutoFit/>
          </a:bodyPr>
          <a:lstStyle/>
          <a:p>
            <a:pPr algn="l"/>
            <a:r>
              <a:rPr sz="1000" b="0">
                <a:solidFill>
                  <a:srgbClr val="888888"/>
                </a:solidFill>
                <a:latin typeface="Arial"/>
              </a:rPr>
              <a:t>Score 61.6 sous-estimé par contexte Auxerre. Dribbles/90 top 15%. Zéro adaptation L1. Idéal si Lens n'a pas besoin d'impact immédiat en Europe. Plan 2 ans.</a:t>
            </a:r>
          </a:p>
        </p:txBody>
      </p:sp>
      <p:sp>
        <p:nvSpPr>
          <p:cNvPr id="16" name="Rectangle 15"/>
          <p:cNvSpPr/>
          <p:nvPr/>
        </p:nvSpPr>
        <p:spPr>
          <a:xfrm>
            <a:off x="365760" y="3730752"/>
            <a:ext cx="1143000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730752"/>
            <a:ext cx="109728" cy="9144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803904"/>
            <a:ext cx="9144000" cy="320040"/>
          </a:xfrm>
          <a:prstGeom prst="rect">
            <a:avLst/>
          </a:prstGeom>
          <a:noFill/>
        </p:spPr>
        <p:txBody>
          <a:bodyPr wrap="square">
            <a:spAutoFit/>
          </a:bodyPr>
          <a:lstStyle/>
          <a:p>
            <a:pPr algn="l"/>
            <a:r>
              <a:rPr sz="1100" b="1">
                <a:solidFill>
                  <a:srgbClr val="F2F2F2"/>
                </a:solidFill>
                <a:latin typeface="Arial Black"/>
              </a:rPr>
              <a:t>#2 PÉPITE MONEYBALL — Gvidas Gineitis  •  Torino  •  21 ans  •  ~8M€  •  Score 76.8/100</a:t>
            </a:r>
          </a:p>
        </p:txBody>
      </p:sp>
      <p:sp>
        <p:nvSpPr>
          <p:cNvPr id="19" name="TextBox 18"/>
          <p:cNvSpPr txBox="1"/>
          <p:nvPr/>
        </p:nvSpPr>
        <p:spPr>
          <a:xfrm>
            <a:off x="594360" y="4160520"/>
            <a:ext cx="9601200" cy="347472"/>
          </a:xfrm>
          <a:prstGeom prst="rect">
            <a:avLst/>
          </a:prstGeom>
          <a:noFill/>
        </p:spPr>
        <p:txBody>
          <a:bodyPr wrap="square">
            <a:spAutoFit/>
          </a:bodyPr>
          <a:lstStyle/>
          <a:p>
            <a:pPr algn="l"/>
            <a:r>
              <a:rPr sz="1000" b="0">
                <a:solidFill>
                  <a:srgbClr val="888888"/>
                </a:solidFill>
                <a:latin typeface="Arial"/>
              </a:rPr>
              <a:t>Sous les radars. Profil Serie A accessible financièrement. Score pressing 60.4 + création 38.3. Développement à long terme = investissement RC Lens traditionnel.</a:t>
            </a:r>
          </a:p>
        </p:txBody>
      </p:sp>
      <p:sp>
        <p:nvSpPr>
          <p:cNvPr id="20" name="Rectangle 19"/>
          <p:cNvSpPr/>
          <p:nvPr/>
        </p:nvSpPr>
        <p:spPr>
          <a:xfrm>
            <a:off x="365760" y="4791456"/>
            <a:ext cx="11430000" cy="8412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4791456"/>
            <a:ext cx="109728" cy="841248"/>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864608"/>
            <a:ext cx="9144000" cy="320040"/>
          </a:xfrm>
          <a:prstGeom prst="rect">
            <a:avLst/>
          </a:prstGeom>
          <a:noFill/>
        </p:spPr>
        <p:txBody>
          <a:bodyPr wrap="square">
            <a:spAutoFit/>
          </a:bodyPr>
          <a:lstStyle/>
          <a:p>
            <a:pPr algn="l"/>
            <a:r>
              <a:rPr sz="1100" b="1">
                <a:solidFill>
                  <a:srgbClr val="F2F2F2"/>
                </a:solidFill>
                <a:latin typeface="Arial Black"/>
              </a:rPr>
              <a:t>#6 OPTION INTERNE — Mamadou Sangaré (RC Lens, 23 ans) — 0€ supplémentaire</a:t>
            </a:r>
          </a:p>
        </p:txBody>
      </p:sp>
      <p:sp>
        <p:nvSpPr>
          <p:cNvPr id="23" name="TextBox 22"/>
          <p:cNvSpPr txBox="1"/>
          <p:nvPr/>
        </p:nvSpPr>
        <p:spPr>
          <a:xfrm>
            <a:off x="594360" y="5212080"/>
            <a:ext cx="9601200" cy="292608"/>
          </a:xfrm>
          <a:prstGeom prst="rect">
            <a:avLst/>
          </a:prstGeom>
          <a:noFill/>
        </p:spPr>
        <p:txBody>
          <a:bodyPr wrap="square">
            <a:spAutoFit/>
          </a:bodyPr>
          <a:lstStyle/>
          <a:p>
            <a:pPr algn="l"/>
            <a:r>
              <a:rPr sz="1000" b="0">
                <a:solidFill>
                  <a:srgbClr val="888888"/>
                </a:solidFill>
                <a:latin typeface="Arial"/>
              </a:rPr>
              <a:t>Déjà signé (8M€). Pressing dominant (score 75.9). Responsabilisation créative par Sage. Option "gratuite" à valoriser en parallèle.</a:t>
            </a:r>
          </a:p>
        </p:txBody>
      </p:sp>
      <p:sp>
        <p:nvSpPr>
          <p:cNvPr id="24" name="Rectangle 23"/>
          <p:cNvSpPr/>
          <p:nvPr/>
        </p:nvSpPr>
        <p:spPr>
          <a:xfrm>
            <a:off x="0" y="5943600"/>
            <a:ext cx="12161520" cy="9144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035040"/>
            <a:ext cx="10058400" cy="347472"/>
          </a:xfrm>
          <a:prstGeom prst="rect">
            <a:avLst/>
          </a:prstGeom>
          <a:noFill/>
        </p:spPr>
        <p:txBody>
          <a:bodyPr wrap="square">
            <a:spAutoFit/>
          </a:bodyPr>
          <a:lstStyle/>
          <a:p>
            <a:pPr algn="l"/>
            <a:r>
              <a:rPr sz="800" b="0">
                <a:solidFill>
                  <a:srgbClr val="888888"/>
                </a:solidFill>
                <a:latin typeface="Arial"/>
              </a:rPr>
              <a:t>THOMASSON ENGINE v6.0  |  RC Lens Cellule Data  |  SofaScore Big 5 + Transfermarkt  |  718 milieux analysés  |  Filtrage Budget Intégré</a:t>
            </a:r>
          </a:p>
        </p:txBody>
      </p:sp>
      <p:sp>
        <p:nvSpPr>
          <p:cNvPr id="26" name="TextBox 25"/>
          <p:cNvSpPr txBox="1"/>
          <p:nvPr/>
        </p:nvSpPr>
        <p:spPr>
          <a:xfrm>
            <a:off x="10515600" y="5989320"/>
            <a:ext cx="1463040" cy="411480"/>
          </a:xfrm>
          <a:prstGeom prst="rect">
            <a:avLst/>
          </a:prstGeom>
          <a:noFill/>
        </p:spPr>
        <p:txBody>
          <a:bodyPr wrap="square">
            <a:spAutoFit/>
          </a:bodyPr>
          <a:lstStyle/>
          <a:p>
            <a:pPr algn="r"/>
            <a:r>
              <a:rPr sz="1300" b="1">
                <a:solidFill>
                  <a:srgbClr val="E30613"/>
                </a:solidFill>
                <a:latin typeface="Arial Black"/>
              </a:rPr>
              <a:t>RC LENS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Rectangle 1"/>
          <p:cNvSpPr/>
          <p:nvPr/>
        </p:nvSpPr>
        <p:spPr>
          <a:xfrm>
            <a:off x="0" y="0"/>
            <a:ext cx="1216152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457200"/>
          </a:xfrm>
          <a:prstGeom prst="rect">
            <a:avLst/>
          </a:prstGeom>
          <a:noFill/>
        </p:spPr>
        <p:txBody>
          <a:bodyPr wrap="square">
            <a:spAutoFit/>
          </a:bodyPr>
          <a:lstStyle/>
          <a:p>
            <a:pPr algn="l"/>
            <a:r>
              <a:rPr sz="2000" b="1">
                <a:solidFill>
                  <a:srgbClr val="F2F2F2"/>
                </a:solidFill>
                <a:latin typeface="Arial Black"/>
              </a:rPr>
              <a:t>09 — MÉTHODOLOGIE V6 | PIPELINE COMPLET + BUDGET</a:t>
            </a:r>
          </a:p>
        </p:txBody>
      </p:sp>
      <p:sp>
        <p:nvSpPr>
          <p:cNvPr id="4" name="Rectangle 3"/>
          <p:cNvSpPr/>
          <p:nvPr/>
        </p:nvSpPr>
        <p:spPr>
          <a:xfrm>
            <a:off x="228600" y="960120"/>
            <a:ext cx="1874519" cy="5212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960120"/>
            <a:ext cx="1874519" cy="6400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024128"/>
            <a:ext cx="1691640" cy="841248"/>
          </a:xfrm>
          <a:prstGeom prst="rect">
            <a:avLst/>
          </a:prstGeom>
          <a:noFill/>
        </p:spPr>
        <p:txBody>
          <a:bodyPr wrap="square">
            <a:spAutoFit/>
          </a:bodyPr>
          <a:lstStyle/>
          <a:p>
            <a:pPr algn="l"/>
            <a:r>
              <a:rPr sz="4000" b="1">
                <a:solidFill>
                  <a:srgbClr val="282828"/>
                </a:solidFill>
                <a:latin typeface="Arial Black"/>
              </a:rPr>
              <a:t>01</a:t>
            </a:r>
          </a:p>
        </p:txBody>
      </p:sp>
      <p:sp>
        <p:nvSpPr>
          <p:cNvPr id="7" name="TextBox 6"/>
          <p:cNvSpPr txBox="1"/>
          <p:nvPr/>
        </p:nvSpPr>
        <p:spPr>
          <a:xfrm>
            <a:off x="338328" y="1783080"/>
            <a:ext cx="1664208" cy="384048"/>
          </a:xfrm>
          <a:prstGeom prst="rect">
            <a:avLst/>
          </a:prstGeom>
          <a:noFill/>
        </p:spPr>
        <p:txBody>
          <a:bodyPr wrap="square">
            <a:spAutoFit/>
          </a:bodyPr>
          <a:lstStyle/>
          <a:p>
            <a:pPr algn="l"/>
            <a:r>
              <a:rPr sz="1200" b="1">
                <a:solidFill>
                  <a:srgbClr val="F2F2F2"/>
                </a:solidFill>
                <a:latin typeface="Arial Black"/>
              </a:rPr>
              <a:t>Pool Big 5</a:t>
            </a:r>
          </a:p>
        </p:txBody>
      </p:sp>
      <p:sp>
        <p:nvSpPr>
          <p:cNvPr id="8" name="TextBox 7"/>
          <p:cNvSpPr txBox="1"/>
          <p:nvPr/>
        </p:nvSpPr>
        <p:spPr>
          <a:xfrm>
            <a:off x="356616" y="2267712"/>
            <a:ext cx="1627632" cy="347472"/>
          </a:xfrm>
          <a:prstGeom prst="rect">
            <a:avLst/>
          </a:prstGeom>
          <a:noFill/>
        </p:spPr>
        <p:txBody>
          <a:bodyPr wrap="square">
            <a:spAutoFit/>
          </a:bodyPr>
          <a:lstStyle/>
          <a:p>
            <a:pPr algn="l"/>
            <a:r>
              <a:rPr sz="950" b="0">
                <a:solidFill>
                  <a:srgbClr val="888888"/>
                </a:solidFill>
                <a:latin typeface="Arial"/>
              </a:rPr>
              <a:t>• 2445 joueurs</a:t>
            </a:r>
          </a:p>
        </p:txBody>
      </p:sp>
      <p:sp>
        <p:nvSpPr>
          <p:cNvPr id="9" name="TextBox 8"/>
          <p:cNvSpPr txBox="1"/>
          <p:nvPr/>
        </p:nvSpPr>
        <p:spPr>
          <a:xfrm>
            <a:off x="356616" y="2651760"/>
            <a:ext cx="1627632" cy="347472"/>
          </a:xfrm>
          <a:prstGeom prst="rect">
            <a:avLst/>
          </a:prstGeom>
          <a:noFill/>
        </p:spPr>
        <p:txBody>
          <a:bodyPr wrap="square">
            <a:spAutoFit/>
          </a:bodyPr>
          <a:lstStyle/>
          <a:p>
            <a:pPr algn="l"/>
            <a:r>
              <a:rPr sz="950" b="0">
                <a:solidFill>
                  <a:srgbClr val="888888"/>
                </a:solidFill>
                <a:latin typeface="Arial"/>
              </a:rPr>
              <a:t>• SofaScore 2024/25</a:t>
            </a:r>
          </a:p>
        </p:txBody>
      </p:sp>
      <p:sp>
        <p:nvSpPr>
          <p:cNvPr id="10" name="TextBox 9"/>
          <p:cNvSpPr txBox="1"/>
          <p:nvPr/>
        </p:nvSpPr>
        <p:spPr>
          <a:xfrm>
            <a:off x="356616" y="3035808"/>
            <a:ext cx="1627632" cy="347472"/>
          </a:xfrm>
          <a:prstGeom prst="rect">
            <a:avLst/>
          </a:prstGeom>
          <a:noFill/>
        </p:spPr>
        <p:txBody>
          <a:bodyPr wrap="square">
            <a:spAutoFit/>
          </a:bodyPr>
          <a:lstStyle/>
          <a:p>
            <a:pPr algn="l"/>
            <a:r>
              <a:rPr sz="950" b="0">
                <a:solidFill>
                  <a:srgbClr val="888888"/>
                </a:solidFill>
                <a:latin typeface="Arial"/>
              </a:rPr>
              <a:t>• 96 clubs</a:t>
            </a:r>
          </a:p>
        </p:txBody>
      </p:sp>
      <p:sp>
        <p:nvSpPr>
          <p:cNvPr id="11" name="TextBox 10"/>
          <p:cNvSpPr txBox="1"/>
          <p:nvPr/>
        </p:nvSpPr>
        <p:spPr>
          <a:xfrm>
            <a:off x="356616" y="3419856"/>
            <a:ext cx="1627632" cy="347472"/>
          </a:xfrm>
          <a:prstGeom prst="rect">
            <a:avLst/>
          </a:prstGeom>
          <a:noFill/>
        </p:spPr>
        <p:txBody>
          <a:bodyPr wrap="square">
            <a:spAutoFit/>
          </a:bodyPr>
          <a:lstStyle/>
          <a:p>
            <a:pPr algn="l"/>
            <a:r>
              <a:rPr sz="950" b="0">
                <a:solidFill>
                  <a:srgbClr val="888888"/>
                </a:solidFill>
                <a:latin typeface="Arial"/>
              </a:rPr>
              <a:t>• 60+ variables</a:t>
            </a:r>
          </a:p>
        </p:txBody>
      </p:sp>
      <p:sp>
        <p:nvSpPr>
          <p:cNvPr id="12" name="TextBox 11"/>
          <p:cNvSpPr txBox="1"/>
          <p:nvPr/>
        </p:nvSpPr>
        <p:spPr>
          <a:xfrm>
            <a:off x="356616" y="3803904"/>
            <a:ext cx="1627632" cy="347472"/>
          </a:xfrm>
          <a:prstGeom prst="rect">
            <a:avLst/>
          </a:prstGeom>
          <a:noFill/>
        </p:spPr>
        <p:txBody>
          <a:bodyPr wrap="square">
            <a:spAutoFit/>
          </a:bodyPr>
          <a:lstStyle/>
          <a:p>
            <a:pPr algn="l"/>
            <a:r>
              <a:rPr sz="950" b="0">
                <a:solidFill>
                  <a:srgbClr val="888888"/>
                </a:solidFill>
                <a:latin typeface="Arial"/>
              </a:rPr>
              <a:t>• 600+ min filtre</a:t>
            </a:r>
          </a:p>
        </p:txBody>
      </p:sp>
      <p:sp>
        <p:nvSpPr>
          <p:cNvPr id="13" name="Rectangle 12"/>
          <p:cNvSpPr/>
          <p:nvPr/>
        </p:nvSpPr>
        <p:spPr>
          <a:xfrm>
            <a:off x="2221992" y="960120"/>
            <a:ext cx="1874519" cy="5212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21992" y="960120"/>
            <a:ext cx="1874519" cy="640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13432" y="1024128"/>
            <a:ext cx="1691640" cy="841248"/>
          </a:xfrm>
          <a:prstGeom prst="rect">
            <a:avLst/>
          </a:prstGeom>
          <a:noFill/>
        </p:spPr>
        <p:txBody>
          <a:bodyPr wrap="square">
            <a:spAutoFit/>
          </a:bodyPr>
          <a:lstStyle/>
          <a:p>
            <a:pPr algn="l"/>
            <a:r>
              <a:rPr sz="4000" b="1">
                <a:solidFill>
                  <a:srgbClr val="282828"/>
                </a:solidFill>
                <a:latin typeface="Arial Black"/>
              </a:rPr>
              <a:t>02</a:t>
            </a:r>
          </a:p>
        </p:txBody>
      </p:sp>
      <p:sp>
        <p:nvSpPr>
          <p:cNvPr id="16" name="TextBox 15"/>
          <p:cNvSpPr txBox="1"/>
          <p:nvPr/>
        </p:nvSpPr>
        <p:spPr>
          <a:xfrm>
            <a:off x="2331720" y="1783080"/>
            <a:ext cx="1664208" cy="384048"/>
          </a:xfrm>
          <a:prstGeom prst="rect">
            <a:avLst/>
          </a:prstGeom>
          <a:noFill/>
        </p:spPr>
        <p:txBody>
          <a:bodyPr wrap="square">
            <a:spAutoFit/>
          </a:bodyPr>
          <a:lstStyle/>
          <a:p>
            <a:pPr algn="l"/>
            <a:r>
              <a:rPr sz="1200" b="1">
                <a:solidFill>
                  <a:srgbClr val="F2F2F2"/>
                </a:solidFill>
                <a:latin typeface="Arial Black"/>
              </a:rPr>
              <a:t>Filtrage MF</a:t>
            </a:r>
          </a:p>
        </p:txBody>
      </p:sp>
      <p:sp>
        <p:nvSpPr>
          <p:cNvPr id="17" name="TextBox 16"/>
          <p:cNvSpPr txBox="1"/>
          <p:nvPr/>
        </p:nvSpPr>
        <p:spPr>
          <a:xfrm>
            <a:off x="2350008" y="2267712"/>
            <a:ext cx="1627632" cy="347472"/>
          </a:xfrm>
          <a:prstGeom prst="rect">
            <a:avLst/>
          </a:prstGeom>
          <a:noFill/>
        </p:spPr>
        <p:txBody>
          <a:bodyPr wrap="square">
            <a:spAutoFit/>
          </a:bodyPr>
          <a:lstStyle/>
          <a:p>
            <a:pPr algn="l"/>
            <a:r>
              <a:rPr sz="950" b="0">
                <a:solidFill>
                  <a:srgbClr val="888888"/>
                </a:solidFill>
                <a:latin typeface="Arial"/>
              </a:rPr>
              <a:t>• Poste MF requis</a:t>
            </a:r>
          </a:p>
        </p:txBody>
      </p:sp>
      <p:sp>
        <p:nvSpPr>
          <p:cNvPr id="18" name="TextBox 17"/>
          <p:cNvSpPr txBox="1"/>
          <p:nvPr/>
        </p:nvSpPr>
        <p:spPr>
          <a:xfrm>
            <a:off x="2350008" y="2651760"/>
            <a:ext cx="1627632" cy="347472"/>
          </a:xfrm>
          <a:prstGeom prst="rect">
            <a:avLst/>
          </a:prstGeom>
          <a:noFill/>
        </p:spPr>
        <p:txBody>
          <a:bodyPr wrap="square">
            <a:spAutoFit/>
          </a:bodyPr>
          <a:lstStyle/>
          <a:p>
            <a:pPr algn="l"/>
            <a:r>
              <a:rPr sz="950" b="0">
                <a:solidFill>
                  <a:srgbClr val="888888"/>
                </a:solidFill>
                <a:latin typeface="Arial"/>
              </a:rPr>
              <a:t>• 718 milieux</a:t>
            </a:r>
          </a:p>
        </p:txBody>
      </p:sp>
      <p:sp>
        <p:nvSpPr>
          <p:cNvPr id="19" name="TextBox 18"/>
          <p:cNvSpPr txBox="1"/>
          <p:nvPr/>
        </p:nvSpPr>
        <p:spPr>
          <a:xfrm>
            <a:off x="2350008" y="3035808"/>
            <a:ext cx="1627632" cy="347472"/>
          </a:xfrm>
          <a:prstGeom prst="rect">
            <a:avLst/>
          </a:prstGeom>
          <a:noFill/>
        </p:spPr>
        <p:txBody>
          <a:bodyPr wrap="square">
            <a:spAutoFit/>
          </a:bodyPr>
          <a:lstStyle/>
          <a:p>
            <a:pPr algn="l"/>
            <a:r>
              <a:rPr sz="950" b="0">
                <a:solidFill>
                  <a:srgbClr val="888888"/>
                </a:solidFill>
                <a:latin typeface="Arial"/>
              </a:rPr>
              <a:t>• ≥600 min</a:t>
            </a:r>
          </a:p>
        </p:txBody>
      </p:sp>
      <p:sp>
        <p:nvSpPr>
          <p:cNvPr id="20" name="TextBox 19"/>
          <p:cNvSpPr txBox="1"/>
          <p:nvPr/>
        </p:nvSpPr>
        <p:spPr>
          <a:xfrm>
            <a:off x="2350008" y="3419856"/>
            <a:ext cx="1627632" cy="347472"/>
          </a:xfrm>
          <a:prstGeom prst="rect">
            <a:avLst/>
          </a:prstGeom>
          <a:noFill/>
        </p:spPr>
        <p:txBody>
          <a:bodyPr wrap="square">
            <a:spAutoFit/>
          </a:bodyPr>
          <a:lstStyle/>
          <a:p>
            <a:pPr algn="l"/>
            <a:r>
              <a:rPr sz="950" b="0">
                <a:solidFill>
                  <a:srgbClr val="888888"/>
                </a:solidFill>
                <a:latin typeface="Arial"/>
              </a:rPr>
              <a:t>• Âge ≤28</a:t>
            </a:r>
          </a:p>
        </p:txBody>
      </p:sp>
      <p:sp>
        <p:nvSpPr>
          <p:cNvPr id="21" name="TextBox 20"/>
          <p:cNvSpPr txBox="1"/>
          <p:nvPr/>
        </p:nvSpPr>
        <p:spPr>
          <a:xfrm>
            <a:off x="2350008" y="3803904"/>
            <a:ext cx="1627632" cy="347472"/>
          </a:xfrm>
          <a:prstGeom prst="rect">
            <a:avLst/>
          </a:prstGeom>
          <a:noFill/>
        </p:spPr>
        <p:txBody>
          <a:bodyPr wrap="square">
            <a:spAutoFit/>
          </a:bodyPr>
          <a:lstStyle/>
          <a:p>
            <a:pPr algn="l"/>
            <a:r>
              <a:rPr sz="950" b="0">
                <a:solidFill>
                  <a:srgbClr val="888888"/>
                </a:solidFill>
                <a:latin typeface="Arial"/>
              </a:rPr>
              <a:t>• Score Crea≥20</a:t>
            </a:r>
          </a:p>
        </p:txBody>
      </p:sp>
      <p:sp>
        <p:nvSpPr>
          <p:cNvPr id="22" name="Rectangle 21"/>
          <p:cNvSpPr/>
          <p:nvPr/>
        </p:nvSpPr>
        <p:spPr>
          <a:xfrm>
            <a:off x="4215384" y="960120"/>
            <a:ext cx="1874519" cy="5212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15384" y="960120"/>
            <a:ext cx="1874519"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06824" y="1024128"/>
            <a:ext cx="1691640" cy="841248"/>
          </a:xfrm>
          <a:prstGeom prst="rect">
            <a:avLst/>
          </a:prstGeom>
          <a:noFill/>
        </p:spPr>
        <p:txBody>
          <a:bodyPr wrap="square">
            <a:spAutoFit/>
          </a:bodyPr>
          <a:lstStyle/>
          <a:p>
            <a:pPr algn="l"/>
            <a:r>
              <a:rPr sz="4000" b="1">
                <a:solidFill>
                  <a:srgbClr val="282828"/>
                </a:solidFill>
                <a:latin typeface="Arial Black"/>
              </a:rPr>
              <a:t>03</a:t>
            </a:r>
          </a:p>
        </p:txBody>
      </p:sp>
      <p:sp>
        <p:nvSpPr>
          <p:cNvPr id="25" name="TextBox 24"/>
          <p:cNvSpPr txBox="1"/>
          <p:nvPr/>
        </p:nvSpPr>
        <p:spPr>
          <a:xfrm>
            <a:off x="4325112" y="1783080"/>
            <a:ext cx="1664208" cy="384048"/>
          </a:xfrm>
          <a:prstGeom prst="rect">
            <a:avLst/>
          </a:prstGeom>
          <a:noFill/>
        </p:spPr>
        <p:txBody>
          <a:bodyPr wrap="square">
            <a:spAutoFit/>
          </a:bodyPr>
          <a:lstStyle/>
          <a:p>
            <a:pPr algn="l"/>
            <a:r>
              <a:rPr sz="1200" b="1">
                <a:solidFill>
                  <a:srgbClr val="F2F2F2"/>
                </a:solidFill>
                <a:latin typeface="Arial Black"/>
              </a:rPr>
              <a:t>Scoring Algo</a:t>
            </a:r>
          </a:p>
        </p:txBody>
      </p:sp>
      <p:sp>
        <p:nvSpPr>
          <p:cNvPr id="26" name="TextBox 25"/>
          <p:cNvSpPr txBox="1"/>
          <p:nvPr/>
        </p:nvSpPr>
        <p:spPr>
          <a:xfrm>
            <a:off x="4343400" y="2267712"/>
            <a:ext cx="1627632" cy="347472"/>
          </a:xfrm>
          <a:prstGeom prst="rect">
            <a:avLst/>
          </a:prstGeom>
          <a:noFill/>
        </p:spPr>
        <p:txBody>
          <a:bodyPr wrap="square">
            <a:spAutoFit/>
          </a:bodyPr>
          <a:lstStyle/>
          <a:p>
            <a:pPr algn="l"/>
            <a:r>
              <a:rPr sz="950" b="0">
                <a:solidFill>
                  <a:srgbClr val="888888"/>
                </a:solidFill>
                <a:latin typeface="Arial"/>
              </a:rPr>
              <a:t>• Pressing 45%</a:t>
            </a:r>
          </a:p>
        </p:txBody>
      </p:sp>
      <p:sp>
        <p:nvSpPr>
          <p:cNvPr id="27" name="TextBox 26"/>
          <p:cNvSpPr txBox="1"/>
          <p:nvPr/>
        </p:nvSpPr>
        <p:spPr>
          <a:xfrm>
            <a:off x="4343400" y="2651760"/>
            <a:ext cx="1627632" cy="347472"/>
          </a:xfrm>
          <a:prstGeom prst="rect">
            <a:avLst/>
          </a:prstGeom>
          <a:noFill/>
        </p:spPr>
        <p:txBody>
          <a:bodyPr wrap="square">
            <a:spAutoFit/>
          </a:bodyPr>
          <a:lstStyle/>
          <a:p>
            <a:pPr algn="l"/>
            <a:r>
              <a:rPr sz="950" b="0">
                <a:solidFill>
                  <a:srgbClr val="888888"/>
                </a:solidFill>
                <a:latin typeface="Arial"/>
              </a:rPr>
              <a:t>• Création 45%</a:t>
            </a:r>
          </a:p>
        </p:txBody>
      </p:sp>
      <p:sp>
        <p:nvSpPr>
          <p:cNvPr id="28" name="TextBox 27"/>
          <p:cNvSpPr txBox="1"/>
          <p:nvPr/>
        </p:nvSpPr>
        <p:spPr>
          <a:xfrm>
            <a:off x="4343400" y="3035808"/>
            <a:ext cx="1627632" cy="347472"/>
          </a:xfrm>
          <a:prstGeom prst="rect">
            <a:avLst/>
          </a:prstGeom>
          <a:noFill/>
        </p:spPr>
        <p:txBody>
          <a:bodyPr wrap="square">
            <a:spAutoFit/>
          </a:bodyPr>
          <a:lstStyle/>
          <a:p>
            <a:pPr algn="l"/>
            <a:r>
              <a:rPr sz="950" b="0">
                <a:solidFill>
                  <a:srgbClr val="888888"/>
                </a:solidFill>
                <a:latin typeface="Arial"/>
              </a:rPr>
              <a:t>• Passes 10%</a:t>
            </a:r>
          </a:p>
        </p:txBody>
      </p:sp>
      <p:sp>
        <p:nvSpPr>
          <p:cNvPr id="29" name="TextBox 28"/>
          <p:cNvSpPr txBox="1"/>
          <p:nvPr/>
        </p:nvSpPr>
        <p:spPr>
          <a:xfrm>
            <a:off x="4343400" y="3419856"/>
            <a:ext cx="1627632" cy="347472"/>
          </a:xfrm>
          <a:prstGeom prst="rect">
            <a:avLst/>
          </a:prstGeom>
          <a:noFill/>
        </p:spPr>
        <p:txBody>
          <a:bodyPr wrap="square">
            <a:spAutoFit/>
          </a:bodyPr>
          <a:lstStyle/>
          <a:p>
            <a:pPr algn="l"/>
            <a:r>
              <a:rPr sz="950" b="0">
                <a:solidFill>
                  <a:srgbClr val="888888"/>
                </a:solidFill>
                <a:latin typeface="Arial"/>
              </a:rPr>
              <a:t>• MinMax 0-100</a:t>
            </a:r>
          </a:p>
        </p:txBody>
      </p:sp>
      <p:sp>
        <p:nvSpPr>
          <p:cNvPr id="30" name="TextBox 29"/>
          <p:cNvSpPr txBox="1"/>
          <p:nvPr/>
        </p:nvSpPr>
        <p:spPr>
          <a:xfrm>
            <a:off x="4343400" y="3803904"/>
            <a:ext cx="1627632" cy="347472"/>
          </a:xfrm>
          <a:prstGeom prst="rect">
            <a:avLst/>
          </a:prstGeom>
          <a:noFill/>
        </p:spPr>
        <p:txBody>
          <a:bodyPr wrap="square">
            <a:spAutoFit/>
          </a:bodyPr>
          <a:lstStyle/>
          <a:p>
            <a:pPr algn="l"/>
            <a:r>
              <a:rPr sz="950" b="0">
                <a:solidFill>
                  <a:srgbClr val="888888"/>
                </a:solidFill>
                <a:latin typeface="Arial"/>
              </a:rPr>
              <a:t>• Top 30 identifiés</a:t>
            </a:r>
          </a:p>
        </p:txBody>
      </p:sp>
      <p:sp>
        <p:nvSpPr>
          <p:cNvPr id="31" name="Rectangle 30"/>
          <p:cNvSpPr/>
          <p:nvPr/>
        </p:nvSpPr>
        <p:spPr>
          <a:xfrm>
            <a:off x="6208776" y="960120"/>
            <a:ext cx="1874519" cy="5212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08776" y="960120"/>
            <a:ext cx="1874519" cy="640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0216" y="1024128"/>
            <a:ext cx="1691640" cy="841248"/>
          </a:xfrm>
          <a:prstGeom prst="rect">
            <a:avLst/>
          </a:prstGeom>
          <a:noFill/>
        </p:spPr>
        <p:txBody>
          <a:bodyPr wrap="square">
            <a:spAutoFit/>
          </a:bodyPr>
          <a:lstStyle/>
          <a:p>
            <a:pPr algn="l"/>
            <a:r>
              <a:rPr sz="4000" b="1">
                <a:solidFill>
                  <a:srgbClr val="282828"/>
                </a:solidFill>
                <a:latin typeface="Arial Black"/>
              </a:rPr>
              <a:t>04</a:t>
            </a:r>
          </a:p>
        </p:txBody>
      </p:sp>
      <p:sp>
        <p:nvSpPr>
          <p:cNvPr id="34" name="TextBox 33"/>
          <p:cNvSpPr txBox="1"/>
          <p:nvPr/>
        </p:nvSpPr>
        <p:spPr>
          <a:xfrm>
            <a:off x="6318504" y="1783080"/>
            <a:ext cx="1664208" cy="384048"/>
          </a:xfrm>
          <a:prstGeom prst="rect">
            <a:avLst/>
          </a:prstGeom>
          <a:noFill/>
        </p:spPr>
        <p:txBody>
          <a:bodyPr wrap="square">
            <a:spAutoFit/>
          </a:bodyPr>
          <a:lstStyle/>
          <a:p>
            <a:pPr algn="l"/>
            <a:r>
              <a:rPr sz="1200" b="1">
                <a:solidFill>
                  <a:srgbClr val="F2F2F2"/>
                </a:solidFill>
                <a:latin typeface="Arial Black"/>
              </a:rPr>
              <a:t>Filtre Budget</a:t>
            </a:r>
          </a:p>
        </p:txBody>
      </p:sp>
      <p:sp>
        <p:nvSpPr>
          <p:cNvPr id="35" name="TextBox 34"/>
          <p:cNvSpPr txBox="1"/>
          <p:nvPr/>
        </p:nvSpPr>
        <p:spPr>
          <a:xfrm>
            <a:off x="6336792" y="2267712"/>
            <a:ext cx="1627632" cy="347472"/>
          </a:xfrm>
          <a:prstGeom prst="rect">
            <a:avLst/>
          </a:prstGeom>
          <a:noFill/>
        </p:spPr>
        <p:txBody>
          <a:bodyPr wrap="square">
            <a:spAutoFit/>
          </a:bodyPr>
          <a:lstStyle/>
          <a:p>
            <a:pPr algn="l"/>
            <a:r>
              <a:rPr sz="950" b="0">
                <a:solidFill>
                  <a:srgbClr val="888888"/>
                </a:solidFill>
                <a:latin typeface="Arial"/>
              </a:rPr>
              <a:t>• Transfermarkt data</a:t>
            </a:r>
          </a:p>
        </p:txBody>
      </p:sp>
      <p:sp>
        <p:nvSpPr>
          <p:cNvPr id="36" name="TextBox 35"/>
          <p:cNvSpPr txBox="1"/>
          <p:nvPr/>
        </p:nvSpPr>
        <p:spPr>
          <a:xfrm>
            <a:off x="6336792" y="2651760"/>
            <a:ext cx="1627632" cy="347472"/>
          </a:xfrm>
          <a:prstGeom prst="rect">
            <a:avLst/>
          </a:prstGeom>
          <a:noFill/>
        </p:spPr>
        <p:txBody>
          <a:bodyPr wrap="square">
            <a:spAutoFit/>
          </a:bodyPr>
          <a:lstStyle/>
          <a:p>
            <a:pPr algn="l"/>
            <a:r>
              <a:rPr sz="950" b="0">
                <a:solidFill>
                  <a:srgbClr val="888888"/>
                </a:solidFill>
                <a:latin typeface="Arial"/>
              </a:rPr>
              <a:t>• Max ~10M€</a:t>
            </a:r>
          </a:p>
        </p:txBody>
      </p:sp>
      <p:sp>
        <p:nvSpPr>
          <p:cNvPr id="37" name="TextBox 36"/>
          <p:cNvSpPr txBox="1"/>
          <p:nvPr/>
        </p:nvSpPr>
        <p:spPr>
          <a:xfrm>
            <a:off x="6336792" y="3035808"/>
            <a:ext cx="1627632" cy="347472"/>
          </a:xfrm>
          <a:prstGeom prst="rect">
            <a:avLst/>
          </a:prstGeom>
          <a:noFill/>
        </p:spPr>
        <p:txBody>
          <a:bodyPr wrap="square">
            <a:spAutoFit/>
          </a:bodyPr>
          <a:lstStyle/>
          <a:p>
            <a:pPr algn="l"/>
            <a:r>
              <a:rPr sz="950" b="0">
                <a:solidFill>
                  <a:srgbClr val="888888"/>
                </a:solidFill>
                <a:latin typeface="Arial"/>
              </a:rPr>
              <a:t>• Exception 12M€</a:t>
            </a:r>
          </a:p>
        </p:txBody>
      </p:sp>
      <p:sp>
        <p:nvSpPr>
          <p:cNvPr id="38" name="TextBox 37"/>
          <p:cNvSpPr txBox="1"/>
          <p:nvPr/>
        </p:nvSpPr>
        <p:spPr>
          <a:xfrm>
            <a:off x="6336792" y="3419856"/>
            <a:ext cx="1627632" cy="347472"/>
          </a:xfrm>
          <a:prstGeom prst="rect">
            <a:avLst/>
          </a:prstGeom>
          <a:noFill/>
        </p:spPr>
        <p:txBody>
          <a:bodyPr wrap="square">
            <a:spAutoFit/>
          </a:bodyPr>
          <a:lstStyle/>
          <a:p>
            <a:pPr algn="l"/>
            <a:r>
              <a:rPr sz="950" b="0">
                <a:solidFill>
                  <a:srgbClr val="888888"/>
                </a:solidFill>
                <a:latin typeface="Arial"/>
              </a:rPr>
              <a:t>• Élimination &gt;15M€</a:t>
            </a:r>
          </a:p>
        </p:txBody>
      </p:sp>
      <p:sp>
        <p:nvSpPr>
          <p:cNvPr id="39" name="TextBox 38"/>
          <p:cNvSpPr txBox="1"/>
          <p:nvPr/>
        </p:nvSpPr>
        <p:spPr>
          <a:xfrm>
            <a:off x="6336792" y="3803904"/>
            <a:ext cx="1627632" cy="347472"/>
          </a:xfrm>
          <a:prstGeom prst="rect">
            <a:avLst/>
          </a:prstGeom>
          <a:noFill/>
        </p:spPr>
        <p:txBody>
          <a:bodyPr wrap="square">
            <a:spAutoFit/>
          </a:bodyPr>
          <a:lstStyle/>
          <a:p>
            <a:pPr algn="l"/>
            <a:r>
              <a:rPr sz="950" b="0">
                <a:solidFill>
                  <a:srgbClr val="888888"/>
                </a:solidFill>
                <a:latin typeface="Arial"/>
              </a:rPr>
              <a:t>• ~12 candidats</a:t>
            </a:r>
          </a:p>
        </p:txBody>
      </p:sp>
      <p:sp>
        <p:nvSpPr>
          <p:cNvPr id="40" name="Rectangle 39"/>
          <p:cNvSpPr/>
          <p:nvPr/>
        </p:nvSpPr>
        <p:spPr>
          <a:xfrm>
            <a:off x="8202168" y="960120"/>
            <a:ext cx="1874519" cy="5212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02168" y="960120"/>
            <a:ext cx="1874519" cy="640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93608" y="1024128"/>
            <a:ext cx="1691640" cy="841248"/>
          </a:xfrm>
          <a:prstGeom prst="rect">
            <a:avLst/>
          </a:prstGeom>
          <a:noFill/>
        </p:spPr>
        <p:txBody>
          <a:bodyPr wrap="square">
            <a:spAutoFit/>
          </a:bodyPr>
          <a:lstStyle/>
          <a:p>
            <a:pPr algn="l"/>
            <a:r>
              <a:rPr sz="4000" b="1">
                <a:solidFill>
                  <a:srgbClr val="282828"/>
                </a:solidFill>
                <a:latin typeface="Arial Black"/>
              </a:rPr>
              <a:t>05</a:t>
            </a:r>
          </a:p>
        </p:txBody>
      </p:sp>
      <p:sp>
        <p:nvSpPr>
          <p:cNvPr id="43" name="TextBox 42"/>
          <p:cNvSpPr txBox="1"/>
          <p:nvPr/>
        </p:nvSpPr>
        <p:spPr>
          <a:xfrm>
            <a:off x="8311896" y="1783080"/>
            <a:ext cx="1664208" cy="384048"/>
          </a:xfrm>
          <a:prstGeom prst="rect">
            <a:avLst/>
          </a:prstGeom>
          <a:noFill/>
        </p:spPr>
        <p:txBody>
          <a:bodyPr wrap="square">
            <a:spAutoFit/>
          </a:bodyPr>
          <a:lstStyle/>
          <a:p>
            <a:pPr algn="l"/>
            <a:r>
              <a:rPr sz="1200" b="1">
                <a:solidFill>
                  <a:srgbClr val="F2F2F2"/>
                </a:solidFill>
                <a:latin typeface="Arial Black"/>
              </a:rPr>
              <a:t>Analyse Hum.</a:t>
            </a:r>
          </a:p>
        </p:txBody>
      </p:sp>
      <p:sp>
        <p:nvSpPr>
          <p:cNvPr id="44" name="TextBox 43"/>
          <p:cNvSpPr txBox="1"/>
          <p:nvPr/>
        </p:nvSpPr>
        <p:spPr>
          <a:xfrm>
            <a:off x="8330184" y="2267712"/>
            <a:ext cx="1627632" cy="347472"/>
          </a:xfrm>
          <a:prstGeom prst="rect">
            <a:avLst/>
          </a:prstGeom>
          <a:noFill/>
        </p:spPr>
        <p:txBody>
          <a:bodyPr wrap="square">
            <a:spAutoFit/>
          </a:bodyPr>
          <a:lstStyle/>
          <a:p>
            <a:pPr algn="l"/>
            <a:r>
              <a:rPr sz="950" b="0">
                <a:solidFill>
                  <a:srgbClr val="888888"/>
                </a:solidFill>
                <a:latin typeface="Arial"/>
              </a:rPr>
              <a:t>• Red flags médicaux</a:t>
            </a:r>
          </a:p>
        </p:txBody>
      </p:sp>
      <p:sp>
        <p:nvSpPr>
          <p:cNvPr id="45" name="TextBox 44"/>
          <p:cNvSpPr txBox="1"/>
          <p:nvPr/>
        </p:nvSpPr>
        <p:spPr>
          <a:xfrm>
            <a:off x="8330184" y="2651760"/>
            <a:ext cx="1627632" cy="347472"/>
          </a:xfrm>
          <a:prstGeom prst="rect">
            <a:avLst/>
          </a:prstGeom>
          <a:noFill/>
        </p:spPr>
        <p:txBody>
          <a:bodyPr wrap="square">
            <a:spAutoFit/>
          </a:bodyPr>
          <a:lstStyle/>
          <a:p>
            <a:pPr algn="l"/>
            <a:r>
              <a:rPr sz="950" b="0">
                <a:solidFill>
                  <a:srgbClr val="888888"/>
                </a:solidFill>
                <a:latin typeface="Arial"/>
              </a:rPr>
              <a:t>• Rôle tactique réel</a:t>
            </a:r>
          </a:p>
        </p:txBody>
      </p:sp>
      <p:sp>
        <p:nvSpPr>
          <p:cNvPr id="46" name="TextBox 45"/>
          <p:cNvSpPr txBox="1"/>
          <p:nvPr/>
        </p:nvSpPr>
        <p:spPr>
          <a:xfrm>
            <a:off x="8330184" y="3035808"/>
            <a:ext cx="1627632" cy="347472"/>
          </a:xfrm>
          <a:prstGeom prst="rect">
            <a:avLst/>
          </a:prstGeom>
          <a:noFill/>
        </p:spPr>
        <p:txBody>
          <a:bodyPr wrap="square">
            <a:spAutoFit/>
          </a:bodyPr>
          <a:lstStyle/>
          <a:p>
            <a:pPr algn="l"/>
            <a:r>
              <a:rPr sz="950" b="0">
                <a:solidFill>
                  <a:srgbClr val="888888"/>
                </a:solidFill>
                <a:latin typeface="Arial"/>
              </a:rPr>
              <a:t>• Transférabilité</a:t>
            </a:r>
          </a:p>
        </p:txBody>
      </p:sp>
      <p:sp>
        <p:nvSpPr>
          <p:cNvPr id="47" name="TextBox 46"/>
          <p:cNvSpPr txBox="1"/>
          <p:nvPr/>
        </p:nvSpPr>
        <p:spPr>
          <a:xfrm>
            <a:off x="8330184" y="3419856"/>
            <a:ext cx="1627632" cy="347472"/>
          </a:xfrm>
          <a:prstGeom prst="rect">
            <a:avLst/>
          </a:prstGeom>
          <a:noFill/>
        </p:spPr>
        <p:txBody>
          <a:bodyPr wrap="square">
            <a:spAutoFit/>
          </a:bodyPr>
          <a:lstStyle/>
          <a:p>
            <a:pPr algn="l"/>
            <a:r>
              <a:rPr sz="950" b="0">
                <a:solidFill>
                  <a:srgbClr val="888888"/>
                </a:solidFill>
                <a:latin typeface="Arial"/>
              </a:rPr>
              <a:t>• Contexte équipe</a:t>
            </a:r>
          </a:p>
        </p:txBody>
      </p:sp>
      <p:sp>
        <p:nvSpPr>
          <p:cNvPr id="48" name="TextBox 47"/>
          <p:cNvSpPr txBox="1"/>
          <p:nvPr/>
        </p:nvSpPr>
        <p:spPr>
          <a:xfrm>
            <a:off x="8330184" y="3803904"/>
            <a:ext cx="1627632" cy="347472"/>
          </a:xfrm>
          <a:prstGeom prst="rect">
            <a:avLst/>
          </a:prstGeom>
          <a:noFill/>
        </p:spPr>
        <p:txBody>
          <a:bodyPr wrap="square">
            <a:spAutoFit/>
          </a:bodyPr>
          <a:lstStyle/>
          <a:p>
            <a:pPr algn="l"/>
            <a:r>
              <a:rPr sz="950" b="0">
                <a:solidFill>
                  <a:srgbClr val="888888"/>
                </a:solidFill>
                <a:latin typeface="Arial"/>
              </a:rPr>
              <a:t>• 6 retenus</a:t>
            </a:r>
          </a:p>
        </p:txBody>
      </p:sp>
      <p:sp>
        <p:nvSpPr>
          <p:cNvPr id="49" name="Rectangle 48"/>
          <p:cNvSpPr/>
          <p:nvPr/>
        </p:nvSpPr>
        <p:spPr>
          <a:xfrm>
            <a:off x="10195560" y="960120"/>
            <a:ext cx="1874519" cy="5212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195560" y="960120"/>
            <a:ext cx="1874519" cy="64008"/>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87000" y="1024128"/>
            <a:ext cx="1691640" cy="841248"/>
          </a:xfrm>
          <a:prstGeom prst="rect">
            <a:avLst/>
          </a:prstGeom>
          <a:noFill/>
        </p:spPr>
        <p:txBody>
          <a:bodyPr wrap="square">
            <a:spAutoFit/>
          </a:bodyPr>
          <a:lstStyle/>
          <a:p>
            <a:pPr algn="l"/>
            <a:r>
              <a:rPr sz="4000" b="1">
                <a:solidFill>
                  <a:srgbClr val="282828"/>
                </a:solidFill>
                <a:latin typeface="Arial Black"/>
              </a:rPr>
              <a:t>06</a:t>
            </a:r>
          </a:p>
        </p:txBody>
      </p:sp>
      <p:sp>
        <p:nvSpPr>
          <p:cNvPr id="52" name="TextBox 51"/>
          <p:cNvSpPr txBox="1"/>
          <p:nvPr/>
        </p:nvSpPr>
        <p:spPr>
          <a:xfrm>
            <a:off x="10305288" y="1783080"/>
            <a:ext cx="1664208" cy="384048"/>
          </a:xfrm>
          <a:prstGeom prst="rect">
            <a:avLst/>
          </a:prstGeom>
          <a:noFill/>
        </p:spPr>
        <p:txBody>
          <a:bodyPr wrap="square">
            <a:spAutoFit/>
          </a:bodyPr>
          <a:lstStyle/>
          <a:p>
            <a:pPr algn="l"/>
            <a:r>
              <a:rPr sz="1200" b="1">
                <a:solidFill>
                  <a:srgbClr val="F2F2F2"/>
                </a:solidFill>
                <a:latin typeface="Arial Black"/>
              </a:rPr>
              <a:t>Verdict</a:t>
            </a:r>
          </a:p>
        </p:txBody>
      </p:sp>
      <p:sp>
        <p:nvSpPr>
          <p:cNvPr id="53" name="TextBox 52"/>
          <p:cNvSpPr txBox="1"/>
          <p:nvPr/>
        </p:nvSpPr>
        <p:spPr>
          <a:xfrm>
            <a:off x="10323576" y="2267712"/>
            <a:ext cx="1627632" cy="347472"/>
          </a:xfrm>
          <a:prstGeom prst="rect">
            <a:avLst/>
          </a:prstGeom>
          <a:noFill/>
        </p:spPr>
        <p:txBody>
          <a:bodyPr wrap="square">
            <a:spAutoFit/>
          </a:bodyPr>
          <a:lstStyle/>
          <a:p>
            <a:pPr algn="l"/>
            <a:r>
              <a:rPr sz="950" b="0">
                <a:solidFill>
                  <a:srgbClr val="888888"/>
                </a:solidFill>
                <a:latin typeface="Arial"/>
              </a:rPr>
              <a:t>• Radar comparatif</a:t>
            </a:r>
          </a:p>
        </p:txBody>
      </p:sp>
      <p:sp>
        <p:nvSpPr>
          <p:cNvPr id="54" name="TextBox 53"/>
          <p:cNvSpPr txBox="1"/>
          <p:nvPr/>
        </p:nvSpPr>
        <p:spPr>
          <a:xfrm>
            <a:off x="10323576" y="2651760"/>
            <a:ext cx="1627632" cy="347472"/>
          </a:xfrm>
          <a:prstGeom prst="rect">
            <a:avLst/>
          </a:prstGeom>
          <a:noFill/>
        </p:spPr>
        <p:txBody>
          <a:bodyPr wrap="square">
            <a:spAutoFit/>
          </a:bodyPr>
          <a:lstStyle/>
          <a:p>
            <a:pPr algn="l"/>
            <a:r>
              <a:rPr sz="950" b="0">
                <a:solidFill>
                  <a:srgbClr val="888888"/>
                </a:solidFill>
                <a:latin typeface="Arial"/>
              </a:rPr>
              <a:t>• Heatmap percentile</a:t>
            </a:r>
          </a:p>
        </p:txBody>
      </p:sp>
      <p:sp>
        <p:nvSpPr>
          <p:cNvPr id="55" name="TextBox 54"/>
          <p:cNvSpPr txBox="1"/>
          <p:nvPr/>
        </p:nvSpPr>
        <p:spPr>
          <a:xfrm>
            <a:off x="10323576" y="3035808"/>
            <a:ext cx="1627632" cy="347472"/>
          </a:xfrm>
          <a:prstGeom prst="rect">
            <a:avLst/>
          </a:prstGeom>
          <a:noFill/>
        </p:spPr>
        <p:txBody>
          <a:bodyPr wrap="square">
            <a:spAutoFit/>
          </a:bodyPr>
          <a:lstStyle/>
          <a:p>
            <a:pPr algn="l"/>
            <a:r>
              <a:rPr sz="950" b="0">
                <a:solidFill>
                  <a:srgbClr val="888888"/>
                </a:solidFill>
                <a:latin typeface="Arial"/>
              </a:rPr>
              <a:t>• Shortlist budget</a:t>
            </a:r>
          </a:p>
        </p:txBody>
      </p:sp>
      <p:sp>
        <p:nvSpPr>
          <p:cNvPr id="56" name="TextBox 55"/>
          <p:cNvSpPr txBox="1"/>
          <p:nvPr/>
        </p:nvSpPr>
        <p:spPr>
          <a:xfrm>
            <a:off x="10323576" y="3419856"/>
            <a:ext cx="1627632" cy="347472"/>
          </a:xfrm>
          <a:prstGeom prst="rect">
            <a:avLst/>
          </a:prstGeom>
          <a:noFill/>
        </p:spPr>
        <p:txBody>
          <a:bodyPr wrap="square">
            <a:spAutoFit/>
          </a:bodyPr>
          <a:lstStyle/>
          <a:p>
            <a:pPr algn="l"/>
            <a:r>
              <a:rPr sz="950" b="0">
                <a:solidFill>
                  <a:srgbClr val="888888"/>
                </a:solidFill>
                <a:latin typeface="Arial"/>
              </a:rPr>
              <a:t>• Recommandation finale</a:t>
            </a:r>
          </a:p>
        </p:txBody>
      </p:sp>
      <p:sp>
        <p:nvSpPr>
          <p:cNvPr id="57" name="TextBox 56"/>
          <p:cNvSpPr txBox="1"/>
          <p:nvPr/>
        </p:nvSpPr>
        <p:spPr>
          <a:xfrm>
            <a:off x="10323576" y="3803904"/>
            <a:ext cx="1627632" cy="347472"/>
          </a:xfrm>
          <a:prstGeom prst="rect">
            <a:avLst/>
          </a:prstGeom>
          <a:noFill/>
        </p:spPr>
        <p:txBody>
          <a:bodyPr wrap="square">
            <a:spAutoFit/>
          </a:bodyPr>
          <a:lstStyle/>
          <a:p>
            <a:pPr algn="l"/>
            <a:r>
              <a:rPr sz="950" b="0">
                <a:solidFill>
                  <a:srgbClr val="888888"/>
                </a:solidFill>
                <a:latin typeface="Arial"/>
              </a:rPr>
              <a:t>• Sean Longstaff #1</a:t>
            </a:r>
          </a:p>
        </p:txBody>
      </p:sp>
      <p:sp>
        <p:nvSpPr>
          <p:cNvPr id="58" name="TextBox 57"/>
          <p:cNvSpPr txBox="1"/>
          <p:nvPr/>
        </p:nvSpPr>
        <p:spPr>
          <a:xfrm>
            <a:off x="274320" y="6492240"/>
            <a:ext cx="11612880" cy="320040"/>
          </a:xfrm>
          <a:prstGeom prst="rect">
            <a:avLst/>
          </a:prstGeom>
          <a:noFill/>
        </p:spPr>
        <p:txBody>
          <a:bodyPr wrap="square">
            <a:spAutoFit/>
          </a:bodyPr>
          <a:lstStyle/>
          <a:p>
            <a:pPr algn="l"/>
            <a:r>
              <a:rPr sz="750" b="0">
                <a:solidFill>
                  <a:srgbClr val="888888"/>
                </a:solidFill>
                <a:latin typeface="Arial"/>
              </a:rPr>
              <a:t>Sources : SofaScore · Transfermarkt · GitHub Axelbol · LinkedIn Dani Rodriguez · Podcast KFC · Juliusz Dabrowski · Antoine Michel (RC Lens) · Julien Verdier (RC Lens)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