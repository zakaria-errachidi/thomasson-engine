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6152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84632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0" y="0"/>
            <a:ext cx="164592" cy="685800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166360" y="411480"/>
            <a:ext cx="6858000" cy="45720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0" y="475488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2F2F2"/>
                </a:solidFill>
                <a:latin typeface="Arial"/>
              </a:rPr>
              <a:t>RC LENS — DATA SCOUTING | v7.0 — BUDGET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66360" y="1097280"/>
            <a:ext cx="6675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0" b="1">
                <a:solidFill>
                  <a:srgbClr val="F2F2F2"/>
                </a:solidFill>
                <a:latin typeface="Arial"/>
              </a:rPr>
              <a:t>THOMASSON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66360" y="2148840"/>
            <a:ext cx="66751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0" b="1">
                <a:solidFill>
                  <a:srgbClr val="E30613"/>
                </a:solidFill>
                <a:latin typeface="Arial"/>
              </a:rPr>
              <a:t>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66360" y="301752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F5A623"/>
                </a:solidFill>
                <a:latin typeface="Arial"/>
              </a:rPr>
              <a:t>V7.0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66360" y="3886200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2F2F2"/>
                </a:solidFill>
                <a:latin typeface="Arial"/>
              </a:rPr>
              <a:t>Données enrichies FBRef + SofaScore | RC Lens Squad Exclus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66360" y="4224528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Arial"/>
              </a:rPr>
              <a:t>Transfermarkt Budget vérifié mars 2026 | 4 datasets fusionnés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234440"/>
            <a:ext cx="4206240" cy="100584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1234440"/>
            <a:ext cx="4206240" cy="54864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325880"/>
            <a:ext cx="3931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E30613"/>
                </a:solidFill>
                <a:latin typeface="Arial"/>
              </a:rPr>
              <a:t>2510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892808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888888"/>
                </a:solidFill>
                <a:latin typeface="Arial"/>
              </a:rPr>
              <a:t>Joueurs fusionnés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404872"/>
            <a:ext cx="4206240" cy="100584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404872"/>
            <a:ext cx="420624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496312"/>
            <a:ext cx="3931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5A623"/>
                </a:solidFill>
                <a:latin typeface="Arial"/>
              </a:rPr>
              <a:t>1038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063239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888888"/>
                </a:solidFill>
                <a:latin typeface="Arial"/>
              </a:rPr>
              <a:t>Milieux MF (Lens exclu)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575304"/>
            <a:ext cx="4206240" cy="100584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575304"/>
            <a:ext cx="4206240" cy="54864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666744"/>
            <a:ext cx="3931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4CAF50"/>
                </a:solidFill>
                <a:latin typeface="Arial"/>
              </a:rPr>
              <a:t>~10M€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233672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888888"/>
                </a:solidFill>
                <a:latin typeface="Arial"/>
              </a:rPr>
              <a:t>Budget max Lens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4745736"/>
            <a:ext cx="4206240" cy="100584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4745736"/>
            <a:ext cx="4206240" cy="54864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837175"/>
            <a:ext cx="3931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00A8E8"/>
                </a:solidFill>
                <a:latin typeface="Arial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404103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888888"/>
                </a:solidFill>
                <a:latin typeface="Arial"/>
              </a:rPr>
              <a:t>Finalistes budget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629107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  <a:latin typeface="Arial"/>
              </a:rPr>
              <a:t>SofaScore Big 5 2024/25 + FBRef + Transfermarkt | Exclusion stricte RC Lens squad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2F2F2"/>
                </a:solidFill>
                <a:latin typeface="Arial"/>
              </a:rPr>
              <a:t>01 — EXCLUSION RC LENS SQUAD | NOUVEAUTÉ V7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Arial"/>
              </a:rPr>
              <a:t>Tous les joueurs actuellement sous contrat avec RC Lens sont exclus du pool de candidats.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51560"/>
            <a:ext cx="5303520" cy="310896"/>
          </a:xfrm>
          <a:prstGeom prst="rect">
            <a:avLst/>
          </a:prstGeom>
          <a:solidFill>
            <a:srgbClr val="1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09728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E30613"/>
                </a:solidFill>
                <a:latin typeface="Arial"/>
              </a:rPr>
              <a:t>★ REF Adrien Thomasson (Réf.)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99031"/>
            <a:ext cx="5303520" cy="310896"/>
          </a:xfrm>
          <a:prstGeom prst="rect">
            <a:avLst/>
          </a:prstGeom>
          <a:solidFill>
            <a:srgbClr val="1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44475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88888"/>
                </a:solidFill>
                <a:latin typeface="Arial"/>
              </a:rPr>
              <a:t>✗ Mamadou Sangaré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746504"/>
            <a:ext cx="5303520" cy="310896"/>
          </a:xfrm>
          <a:prstGeom prst="rect">
            <a:avLst/>
          </a:prstGeom>
          <a:solidFill>
            <a:srgbClr val="1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79222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88888"/>
                </a:solidFill>
                <a:latin typeface="Arial"/>
              </a:rPr>
              <a:t>✗ Matthieu Udol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093976"/>
            <a:ext cx="5303520" cy="310896"/>
          </a:xfrm>
          <a:prstGeom prst="rect">
            <a:avLst/>
          </a:prstGeom>
          <a:solidFill>
            <a:srgbClr val="1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13969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88888"/>
                </a:solidFill>
                <a:latin typeface="Arial"/>
              </a:rPr>
              <a:t>✗ Amadou Haidara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441448"/>
            <a:ext cx="5303520" cy="310896"/>
          </a:xfrm>
          <a:prstGeom prst="rect">
            <a:avLst/>
          </a:prstGeom>
          <a:solidFill>
            <a:srgbClr val="1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248716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88888"/>
                </a:solidFill>
                <a:latin typeface="Arial"/>
              </a:rPr>
              <a:t>✗ Florian Thauvin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788920"/>
            <a:ext cx="5303520" cy="310896"/>
          </a:xfrm>
          <a:prstGeom prst="rect">
            <a:avLst/>
          </a:prstGeom>
          <a:solidFill>
            <a:srgbClr val="1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2834639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88888"/>
                </a:solidFill>
                <a:latin typeface="Arial"/>
              </a:rPr>
              <a:t>✗ Odsonne Édouard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136392"/>
            <a:ext cx="5303520" cy="310896"/>
          </a:xfrm>
          <a:prstGeom prst="rect">
            <a:avLst/>
          </a:prstGeom>
          <a:solidFill>
            <a:srgbClr val="1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318211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88888"/>
                </a:solidFill>
                <a:latin typeface="Arial"/>
              </a:rPr>
              <a:t>✗ Robin Risser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483864"/>
            <a:ext cx="5303520" cy="310896"/>
          </a:xfrm>
          <a:prstGeom prst="rect">
            <a:avLst/>
          </a:prstGeom>
          <a:solidFill>
            <a:srgbClr val="1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352958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88888"/>
                </a:solidFill>
                <a:latin typeface="Arial"/>
              </a:rPr>
              <a:t>✗ Samson Baidoo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831335"/>
            <a:ext cx="5303520" cy="310896"/>
          </a:xfrm>
          <a:prstGeom prst="rect">
            <a:avLst/>
          </a:prstGeom>
          <a:solidFill>
            <a:srgbClr val="1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387705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88888"/>
                </a:solidFill>
                <a:latin typeface="Arial"/>
              </a:rPr>
              <a:t>✗ Morgan Guilavogui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178808"/>
            <a:ext cx="5303520" cy="310896"/>
          </a:xfrm>
          <a:prstGeom prst="rect">
            <a:avLst/>
          </a:prstGeom>
          <a:solidFill>
            <a:srgbClr val="1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422452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88888"/>
                </a:solidFill>
                <a:latin typeface="Arial"/>
              </a:rPr>
              <a:t>✗ Saud Abdulhamid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89320" y="1051560"/>
            <a:ext cx="5943600" cy="310896"/>
          </a:xfrm>
          <a:prstGeom prst="rect">
            <a:avLst/>
          </a:prstGeom>
          <a:solidFill>
            <a:srgbClr val="1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0" y="1097280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88888"/>
                </a:solidFill>
                <a:latin typeface="Arial"/>
              </a:rPr>
              <a:t>✗ Abdallah Sima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89320" y="1399031"/>
            <a:ext cx="5943600" cy="310896"/>
          </a:xfrm>
          <a:prstGeom prst="rect">
            <a:avLst/>
          </a:prstGeom>
          <a:solidFill>
            <a:srgbClr val="1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0" y="1444752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88888"/>
                </a:solidFill>
                <a:latin typeface="Arial"/>
              </a:rPr>
              <a:t>✗ Anthony Bermont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89320" y="1746504"/>
            <a:ext cx="5943600" cy="310896"/>
          </a:xfrm>
          <a:prstGeom prst="rect">
            <a:avLst/>
          </a:prstGeom>
          <a:solidFill>
            <a:srgbClr val="1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26480" y="1792224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88888"/>
                </a:solidFill>
                <a:latin typeface="Arial"/>
              </a:rPr>
              <a:t>✗ Florian Sotoca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89320" y="2093976"/>
            <a:ext cx="5943600" cy="310896"/>
          </a:xfrm>
          <a:prstGeom prst="rect">
            <a:avLst/>
          </a:prstGeom>
          <a:solidFill>
            <a:srgbClr val="1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26480" y="2139696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88888"/>
                </a:solidFill>
                <a:latin typeface="Arial"/>
              </a:rPr>
              <a:t>✗ Ruben Aguilar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89320" y="2441448"/>
            <a:ext cx="5943600" cy="310896"/>
          </a:xfrm>
          <a:prstGeom prst="rect">
            <a:avLst/>
          </a:prstGeom>
          <a:solidFill>
            <a:srgbClr val="1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26480" y="2487168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88888"/>
                </a:solidFill>
                <a:latin typeface="Arial"/>
              </a:rPr>
              <a:t>✗ Arthur Masuaku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89320" y="2788920"/>
            <a:ext cx="5943600" cy="310896"/>
          </a:xfrm>
          <a:prstGeom prst="rect">
            <a:avLst/>
          </a:prstGeom>
          <a:solidFill>
            <a:srgbClr val="1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26480" y="2834639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88888"/>
                </a:solidFill>
                <a:latin typeface="Arial"/>
              </a:rPr>
              <a:t>✗ Rayan Fofana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89320" y="3136392"/>
            <a:ext cx="5943600" cy="310896"/>
          </a:xfrm>
          <a:prstGeom prst="rect">
            <a:avLst/>
          </a:prstGeom>
          <a:solidFill>
            <a:srgbClr val="1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26480" y="3182112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88888"/>
                </a:solidFill>
                <a:latin typeface="Arial"/>
              </a:rPr>
              <a:t>✗ Jeremy Agbonifo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89320" y="3483864"/>
            <a:ext cx="5943600" cy="310896"/>
          </a:xfrm>
          <a:prstGeom prst="rect">
            <a:avLst/>
          </a:prstGeom>
          <a:solidFill>
            <a:srgbClr val="1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26480" y="3529584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88888"/>
                </a:solidFill>
                <a:latin typeface="Arial"/>
              </a:rPr>
              <a:t>✗ Martín Satriano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89320" y="3831335"/>
            <a:ext cx="5943600" cy="310896"/>
          </a:xfrm>
          <a:prstGeom prst="rect">
            <a:avLst/>
          </a:prstGeom>
          <a:solidFill>
            <a:srgbClr val="1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26480" y="3877056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88888"/>
                </a:solidFill>
                <a:latin typeface="Arial"/>
              </a:rPr>
              <a:t>✗ Allan Saint-Maximin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88888"/>
                </a:solidFill>
                <a:latin typeface="Arial"/>
              </a:rPr>
              <a:t>Pool après exclusion : 1038 milieux | Source équipe : Transfermarkt + big5_stats.csv team__name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A0A0A"/>
                </a:solidFill>
                <a:latin typeface="Arial"/>
              </a:rPr>
              <a:t>02 — CONTEXTE BUDGÉTAIRE | SOURCE : TRANSFERMARKT (VÉRIFIÉ MARS 2026)</a:t>
            </a:r>
          </a:p>
        </p:txBody>
      </p:sp>
      <p:pic>
        <p:nvPicPr>
          <p:cNvPr id="4" name="Picture 3" descr="v7_bud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49808"/>
            <a:ext cx="11612880" cy="53492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74320" y="6199632"/>
            <a:ext cx="11612880" cy="56692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29107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2F2F2"/>
                </a:solidFill>
                <a:latin typeface="Arial"/>
              </a:rPr>
              <a:t>25/26 — Dépenses: 56.4M€ | Revenus: 102M€ | Solde: +45.6M€ | Achat max habituel: ~8-10M€ | Exception: Wahi 30M€ (23/24)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2F2F2"/>
                </a:solidFill>
                <a:latin typeface="Arial"/>
              </a:rPr>
              <a:t>03 — ADRIEN THOMASSON | EMPREINTE TACTIQUE À REPRODUIRE</a:t>
            </a:r>
          </a:p>
        </p:txBody>
      </p:sp>
      <p:pic>
        <p:nvPicPr>
          <p:cNvPr id="4" name="Picture 3" descr="v7_radar_thomas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31520"/>
            <a:ext cx="5029200" cy="5943600"/>
          </a:xfrm>
          <a:prstGeom prst="rect">
            <a:avLst/>
          </a:prstGeom>
        </p:spPr>
      </p:pic>
      <p:pic>
        <p:nvPicPr>
          <p:cNvPr id="5" name="Picture 4" descr="v7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731520"/>
            <a:ext cx="658368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2F2F2"/>
                </a:solidFill>
                <a:latin typeface="Arial"/>
              </a:rPr>
              <a:t>04 — MARCHÉ DES MILIEUX | SCATTER &amp; FENÊTRE DE RECRUTEMENT</a:t>
            </a:r>
          </a:p>
        </p:txBody>
      </p:sp>
      <p:pic>
        <p:nvPicPr>
          <p:cNvPr id="4" name="Picture 3" descr="v7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49808"/>
            <a:ext cx="7132320" cy="5943600"/>
          </a:xfrm>
          <a:prstGeom prst="rect">
            <a:avLst/>
          </a:prstGeom>
        </p:spPr>
      </p:pic>
      <p:pic>
        <p:nvPicPr>
          <p:cNvPr id="5" name="Picture 4" descr="v7_fenet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79" y="749808"/>
            <a:ext cx="448056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2F2F2"/>
                </a:solidFill>
                <a:latin typeface="Arial"/>
              </a:rPr>
              <a:t>05 — SCORES COMPARATIFS &amp; HEATMAP PERCENTILES</a:t>
            </a:r>
          </a:p>
        </p:txBody>
      </p:sp>
      <p:pic>
        <p:nvPicPr>
          <p:cNvPr id="4" name="Picture 3" descr="v7_sco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49808"/>
            <a:ext cx="11612880" cy="2743200"/>
          </a:xfrm>
          <a:prstGeom prst="rect">
            <a:avLst/>
          </a:prstGeom>
        </p:spPr>
      </p:pic>
      <p:pic>
        <p:nvPicPr>
          <p:cNvPr id="5" name="Picture 4" descr="v7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611880"/>
            <a:ext cx="11612880" cy="30632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2F2F2"/>
                </a:solidFill>
                <a:latin typeface="Arial"/>
              </a:rPr>
              <a:t>06 — RADARS COMPARATIFS TOP 3 vs THOMASSON</a:t>
            </a:r>
          </a:p>
        </p:txBody>
      </p:sp>
      <p:pic>
        <p:nvPicPr>
          <p:cNvPr id="4" name="Picture 3" descr="v7_rad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49808"/>
            <a:ext cx="1161288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2F2F2"/>
                </a:solidFill>
                <a:latin typeface="Arial"/>
              </a:rPr>
              <a:t>07 — SHORTLIST FINALE | 5 CANDIDATS BUDGET ≤12M€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22960"/>
            <a:ext cx="11430000" cy="96926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822960"/>
            <a:ext cx="91440" cy="9692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896112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A623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877824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2F2F2"/>
                </a:solidFill>
                <a:latin typeface="Arial"/>
              </a:rPr>
              <a:t>Sean Longstaff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128016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88888"/>
                </a:solidFill>
                <a:latin typeface="Arial"/>
              </a:rPr>
              <a:t>Leeds United — PL | 28 ans | GBR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1005840"/>
            <a:ext cx="5486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Arial"/>
              </a:rPr>
              <a:t>[Priorité Absolue]  KP/90:2.07 · Tack/90:3.48 · TklW/90:2.16 · Int/90:0.94 · Rating:6.85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859536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5A623"/>
                </a:solidFill>
                <a:latin typeface="Arial"/>
              </a:rPr>
              <a:t>Priorité Absolue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104120" y="896112"/>
            <a:ext cx="1371600" cy="82296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31552" y="896112"/>
            <a:ext cx="13167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5A623"/>
                </a:solidFill>
                <a:latin typeface="Arial"/>
              </a:rPr>
              <a:t>71.4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1552" y="1353312"/>
            <a:ext cx="1316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5A623"/>
                </a:solidFill>
                <a:latin typeface="Arial"/>
              </a:rPr>
              <a:t>~8M€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920240"/>
            <a:ext cx="11430000" cy="96926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1920240"/>
            <a:ext cx="91440" cy="969264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" y="1993392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4CAF50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8448" y="1975104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2F2F2"/>
                </a:solidFill>
                <a:latin typeface="Arial"/>
              </a:rPr>
              <a:t>Gvidas Gineitis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98448" y="237744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88888"/>
                </a:solidFill>
                <a:latin typeface="Arial"/>
              </a:rPr>
              <a:t>Torino — Serie A | 21 ans | LTU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2103120"/>
            <a:ext cx="5486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Arial"/>
              </a:rPr>
              <a:t>[Pépite Moneyball]  KP/90:1.75 · Tack/90:2.73 · TklW/90:1.46 · Int/90:1.27 · Rating:6.71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1956816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CAF50"/>
                </a:solidFill>
                <a:latin typeface="Arial"/>
              </a:rPr>
              <a:t>Pépite Moneyball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104120" y="1993392"/>
            <a:ext cx="1371600" cy="82296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31552" y="1993392"/>
            <a:ext cx="13167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CAF50"/>
                </a:solidFill>
                <a:latin typeface="Arial"/>
              </a:rPr>
              <a:t>66.0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31552" y="2450592"/>
            <a:ext cx="1316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5A623"/>
                </a:solidFill>
                <a:latin typeface="Arial"/>
              </a:rPr>
              <a:t>~7M€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017520"/>
            <a:ext cx="11430000" cy="96926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3017520"/>
            <a:ext cx="91440" cy="969264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8" y="3090672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00A8E8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98448" y="3072384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2F2F2"/>
                </a:solidFill>
                <a:latin typeface="Arial"/>
              </a:rPr>
              <a:t>Kévin Danois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98448" y="347472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88888"/>
                </a:solidFill>
                <a:latin typeface="Arial"/>
              </a:rPr>
              <a:t>Auxerre — Ligue 1 | 21 ans | FRA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20" y="3200400"/>
            <a:ext cx="5486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Arial"/>
              </a:rPr>
              <a:t>[Clone L1]  KP/90:1.75 · Tack/90:2.24 · TklW/90:1.02 · Int/90:1.22 · Rating:6.98 · *sous-estimé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3054096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A8E8"/>
                </a:solidFill>
                <a:latin typeface="Arial"/>
              </a:rPr>
              <a:t>Clone L1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104120" y="3090672"/>
            <a:ext cx="1371600" cy="82296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31552" y="3090672"/>
            <a:ext cx="13167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0A8E8"/>
                </a:solidFill>
                <a:latin typeface="Arial"/>
              </a:rPr>
              <a:t>53.4*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31552" y="3547872"/>
            <a:ext cx="1316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5A623"/>
                </a:solidFill>
                <a:latin typeface="Arial"/>
              </a:rPr>
              <a:t>~10M€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4114800"/>
            <a:ext cx="11430000" cy="96926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74320" y="4114800"/>
            <a:ext cx="91440" cy="969264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5488" y="4187952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9800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98448" y="4169663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2F2F2"/>
                </a:solidFill>
                <a:latin typeface="Arial"/>
              </a:rPr>
              <a:t>Azzedine Ounahi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98448" y="457200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88888"/>
                </a:solidFill>
                <a:latin typeface="Arial"/>
              </a:rPr>
              <a:t>Girona — La Liga | 25 ans | MAR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17720" y="4297680"/>
            <a:ext cx="5486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Arial"/>
              </a:rPr>
              <a:t>[⚠️ Risque Médical]  KP/90:1.56 · Tack/90:1.34 · TklW/90:0.78 · Int/90:1.45 · Rating:7.27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17720" y="4151376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9800"/>
                </a:solidFill>
                <a:latin typeface="Arial"/>
              </a:rPr>
              <a:t>⚠️ Risque Médical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104120" y="4187952"/>
            <a:ext cx="1371600" cy="82296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131552" y="4187952"/>
            <a:ext cx="13167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9800"/>
                </a:solidFill>
                <a:latin typeface="Arial"/>
              </a:rPr>
              <a:t>51.7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31552" y="4645152"/>
            <a:ext cx="1316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5A623"/>
                </a:solidFill>
                <a:latin typeface="Arial"/>
              </a:rPr>
              <a:t>~10M€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5212080"/>
            <a:ext cx="11430000" cy="96926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74320" y="5212080"/>
            <a:ext cx="91440" cy="969264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75488" y="5285232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9C27B0"/>
                </a:solidFill>
                <a:latin typeface="Arial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98448" y="5266944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2F2F2"/>
                </a:solidFill>
                <a:latin typeface="Arial"/>
              </a:rPr>
              <a:t>Krépin Diatta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98448" y="566928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88888"/>
                </a:solidFill>
                <a:latin typeface="Arial"/>
              </a:rPr>
              <a:t>AS Monaco — L1 | 26 ans | SEN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17720" y="5394960"/>
            <a:ext cx="5486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Arial"/>
              </a:rPr>
              <a:t>[Stretch Budget]  KP/90:1.27 · Tack/90:2.96 · TklW/90:1.58 · Int/90:1.69 · Rating:6.96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17720" y="5248656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9C27B0"/>
                </a:solidFill>
                <a:latin typeface="Arial"/>
              </a:rPr>
              <a:t>Stretch Budget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104120" y="5285232"/>
            <a:ext cx="1371600" cy="82296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131552" y="5285232"/>
            <a:ext cx="13167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9C27B0"/>
                </a:solidFill>
                <a:latin typeface="Arial"/>
              </a:rPr>
              <a:t>64.6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131552" y="5742432"/>
            <a:ext cx="1316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5A623"/>
                </a:solidFill>
                <a:latin typeface="Arial"/>
              </a:rPr>
              <a:t>~12M€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2F2F2"/>
                </a:solidFill>
                <a:latin typeface="Arial"/>
              </a:rPr>
              <a:t>08 — PODIUM FINAL | RECOMMANDATION OPÉRATIONNELLE</a:t>
            </a:r>
          </a:p>
        </p:txBody>
      </p:sp>
      <p:pic>
        <p:nvPicPr>
          <p:cNvPr id="4" name="Picture 3" descr="v7_podi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49808"/>
            <a:ext cx="11612880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2F2F2"/>
                </a:solidFill>
                <a:latin typeface="Arial"/>
              </a:rPr>
              <a:t>09 — MÉTHODOLOGIE v7 | PIPELINE COMPLET 4 DATASETS</a:t>
            </a:r>
          </a:p>
        </p:txBody>
      </p:sp>
      <p:sp>
        <p:nvSpPr>
          <p:cNvPr id="4" name="Rectangle 3"/>
          <p:cNvSpPr/>
          <p:nvPr/>
        </p:nvSpPr>
        <p:spPr>
          <a:xfrm>
            <a:off x="256032" y="960120"/>
            <a:ext cx="1874519" cy="52120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6032" y="960120"/>
            <a:ext cx="1874519" cy="64008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" y="1024128"/>
            <a:ext cx="16916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282828"/>
                </a:solidFill>
                <a:latin typeface="Arial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719072"/>
            <a:ext cx="16642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2F2F2"/>
                </a:solidFill>
                <a:latin typeface="Arial"/>
              </a:rPr>
              <a:t>Fusion 4 CSV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2176272"/>
            <a:ext cx="1627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Arial"/>
              </a:rPr>
              <a:t>• SofaScore big5_stats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2578608"/>
            <a:ext cx="1627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Arial"/>
              </a:rPr>
              <a:t>• FBRef Shooting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2980944"/>
            <a:ext cx="1627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Arial"/>
              </a:rPr>
              <a:t>• FBRef Misc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3383280"/>
            <a:ext cx="1627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Arial"/>
              </a:rPr>
              <a:t>• FBRef Defensive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3785615"/>
            <a:ext cx="1627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Arial"/>
              </a:rPr>
              <a:t>• 2510 joueurs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49424" y="960120"/>
            <a:ext cx="1874519" cy="52120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49424" y="960120"/>
            <a:ext cx="1874519" cy="64008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40864" y="1024128"/>
            <a:ext cx="16916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282828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59152" y="1719072"/>
            <a:ext cx="16642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2F2F2"/>
                </a:solidFill>
                <a:latin typeface="Arial"/>
              </a:rPr>
              <a:t>Excl. RC Lens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2176272"/>
            <a:ext cx="1627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Arial"/>
              </a:rPr>
              <a:t>• team__name filter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2578608"/>
            <a:ext cx="1627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Arial"/>
              </a:rPr>
              <a:t>• 19 joueurs exclus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2980944"/>
            <a:ext cx="1627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Arial"/>
              </a:rPr>
              <a:t>• 1923 dans pool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3383280"/>
            <a:ext cx="1627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Arial"/>
              </a:rPr>
              <a:t>• Thomasson: référence seule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40" y="3785615"/>
            <a:ext cx="1627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Arial"/>
              </a:rPr>
              <a:t>• Méthode robuste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42816" y="960120"/>
            <a:ext cx="1874519" cy="52120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42816" y="960120"/>
            <a:ext cx="1874519" cy="640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34256" y="1024128"/>
            <a:ext cx="16916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282828"/>
                </a:solidFill>
                <a:latin typeface="Arial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52544" y="1719072"/>
            <a:ext cx="16642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2F2F2"/>
                </a:solidFill>
                <a:latin typeface="Arial"/>
              </a:rPr>
              <a:t>Filtrage MF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70832" y="2176272"/>
            <a:ext cx="1627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Arial"/>
              </a:rPr>
              <a:t>• Poste MF requis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70832" y="2578608"/>
            <a:ext cx="1627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Arial"/>
              </a:rPr>
              <a:t>• 1038 milieux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70832" y="2980944"/>
            <a:ext cx="1627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Arial"/>
              </a:rPr>
              <a:t>• ≥600 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70832" y="3383280"/>
            <a:ext cx="1627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Arial"/>
              </a:rPr>
              <a:t>• Âge ≤28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70832" y="3785615"/>
            <a:ext cx="1627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Arial"/>
              </a:rPr>
              <a:t>• Score Crea ≥20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36208" y="960120"/>
            <a:ext cx="1874519" cy="52120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36208" y="960120"/>
            <a:ext cx="1874519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27648" y="1024128"/>
            <a:ext cx="16916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282828"/>
                </a:solidFill>
                <a:latin typeface="Arial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45936" y="1719072"/>
            <a:ext cx="16642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2F2F2"/>
                </a:solidFill>
                <a:latin typeface="Arial"/>
              </a:rPr>
              <a:t>Scoring v7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64224" y="2176272"/>
            <a:ext cx="1627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Arial"/>
              </a:rPr>
              <a:t>• TklW /90 intégré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64224" y="2578608"/>
            <a:ext cx="1627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Arial"/>
              </a:rPr>
              <a:t>• Centres /90 intégrés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64224" y="2980944"/>
            <a:ext cx="1627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Arial"/>
              </a:rPr>
              <a:t>• Pressing 45%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64224" y="3383280"/>
            <a:ext cx="1627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Arial"/>
              </a:rPr>
              <a:t>• Création 45%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64224" y="3785615"/>
            <a:ext cx="1627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Arial"/>
              </a:rPr>
              <a:t>• Passes 10%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29600" y="960120"/>
            <a:ext cx="1874519" cy="52120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229600" y="960120"/>
            <a:ext cx="1874519" cy="64008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21040" y="1024128"/>
            <a:ext cx="16916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282828"/>
                </a:solidFill>
                <a:latin typeface="Arial"/>
              </a:rPr>
              <a:t>05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39327" y="1719072"/>
            <a:ext cx="16642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2F2F2"/>
                </a:solidFill>
                <a:latin typeface="Arial"/>
              </a:rPr>
              <a:t>Budget TM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57616" y="2176272"/>
            <a:ext cx="1627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Arial"/>
              </a:rPr>
              <a:t>• Transfermarkt mars 2026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57616" y="2578608"/>
            <a:ext cx="1627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Arial"/>
              </a:rPr>
              <a:t>• Max ~10M€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57616" y="2980944"/>
            <a:ext cx="1627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Arial"/>
              </a:rPr>
              <a:t>• Seuil stretch 12M€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57616" y="3383280"/>
            <a:ext cx="1627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Arial"/>
              </a:rPr>
              <a:t>• 4 saisons historique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57616" y="3785615"/>
            <a:ext cx="1627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Arial"/>
              </a:rPr>
              <a:t>• Vérification online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222992" y="960120"/>
            <a:ext cx="1874519" cy="52120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222992" y="960120"/>
            <a:ext cx="1874519" cy="64008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314432" y="1024128"/>
            <a:ext cx="16916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282828"/>
                </a:solidFill>
                <a:latin typeface="Arial"/>
              </a:rPr>
              <a:t>06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332719" y="1719072"/>
            <a:ext cx="16642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2F2F2"/>
                </a:solidFill>
                <a:latin typeface="Arial"/>
              </a:rPr>
              <a:t>Analyse Hum.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351008" y="2176272"/>
            <a:ext cx="1627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Arial"/>
              </a:rPr>
              <a:t>• Faux-positifs excl.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351008" y="2578608"/>
            <a:ext cx="1627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Arial"/>
              </a:rPr>
              <a:t>• Red flags médicaux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351008" y="2980944"/>
            <a:ext cx="1627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Arial"/>
              </a:rPr>
              <a:t>• Contexte transfert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351008" y="3383280"/>
            <a:ext cx="1627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Arial"/>
              </a:rPr>
              <a:t>• Rôle tactique réel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351008" y="3785615"/>
            <a:ext cx="1627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Arial"/>
              </a:rPr>
              <a:t>• 5 finalistes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74320" y="64922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  <a:latin typeface="Arial"/>
              </a:rPr>
              <a:t>Sources : SofaScore · FBRef · Transfermarkt (mars 2026) · Antoine Michel &amp; Julien Verdier (RC Lens)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